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9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1696B6-EC74-42D1-ACE2-1D6DE031B209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7751DD-53DE-4181-889F-69B98CA036F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944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991ba6e237_2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*</a:t>
            </a:r>
            <a:r>
              <a:rPr lang="en-GB" sz="1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</a:rPr>
              <a:t>performed in two different days, separated by one week exactly. The first trial took place in the week preceding the switch to DST (March 21</a:t>
            </a:r>
            <a:r>
              <a:rPr lang="en-GB" sz="1100" baseline="300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</a:rPr>
              <a:t>st</a:t>
            </a:r>
            <a:r>
              <a:rPr lang="en-GB" sz="1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</a:rPr>
              <a:t> – 25</a:t>
            </a:r>
            <a:r>
              <a:rPr lang="en-GB" sz="1100" baseline="300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</a:rPr>
              <a:t>th</a:t>
            </a:r>
            <a:r>
              <a:rPr lang="en-GB" sz="1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</a:rPr>
              <a:t>, 2022), the second one in the week after (March 28</a:t>
            </a:r>
            <a:r>
              <a:rPr lang="en-GB" sz="1100" baseline="300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</a:rPr>
              <a:t>th</a:t>
            </a:r>
            <a:r>
              <a:rPr lang="en-GB" sz="1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</a:rPr>
              <a:t> – April 1</a:t>
            </a:r>
            <a:r>
              <a:rPr lang="en-GB" sz="1100" baseline="300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</a:rPr>
              <a:t>st</a:t>
            </a:r>
            <a:r>
              <a:rPr lang="en-GB" sz="1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</a:rPr>
              <a:t>, 2022)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</a:rPr>
              <a:t>*</a:t>
            </a:r>
            <a:r>
              <a:rPr lang="en-GB" sz="1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an average temperature between 20°C and 22°C, and a 4-lx illuminance were maintained in the driving simulator room.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GB" sz="1100" dirty="0">
                <a:effectLst/>
                <a:latin typeface="Times New Roman" panose="02020603050405020304" pitchFamily="18" charset="0"/>
                <a:ea typeface="Yu Mincho" panose="02020400000000000000" pitchFamily="18" charset="-128"/>
                <a:cs typeface="Times New Roman" panose="02020603050405020304" pitchFamily="18" charset="0"/>
              </a:rPr>
              <a:t>*compare with 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a historical control group that underwent two trials without a time change</a:t>
            </a:r>
          </a:p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*hindering fatigue-coping strategies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6" name="Google Shape;326;g2991ba6e237_2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76560-123F-6FBF-E566-743B167EC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E589C-3C7E-9A51-53EA-CA9881232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852F0-CBB6-1466-2555-F869E3685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F1337-1495-FABE-527A-D5E85619D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C92D2-9B2B-A1DC-FAED-DF0E1C5B5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139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DADF2-51D6-768B-CD98-F437AA9EB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13DDE-81A1-1970-9DCD-0D531429F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D41F1-0ED8-0CFF-65D8-E455E92BF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DCC8C4-7BF2-D6B8-7962-096EAE385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6DBB0-5E92-40C3-877E-376E29DE8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526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28261-A0D2-FC5B-D237-B76F81418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E037D-98B3-64D9-C3E2-6791334BD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29BE7-BC0B-14FA-FD40-34A016F40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0A9F5-E832-116C-752B-73EBE433A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DDAA0-2488-4656-FAC2-27BA6115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506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BB9E3-F474-6D12-9F7F-525B38A2A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6231B-7E4E-FC08-0F10-0D15AE01F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1232F4-2E7E-3BE0-36B6-4C7F32587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F3A91B-94CC-8C29-599E-D00ABE7F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93EAAD-3311-AF4C-ED67-190475275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8A29F-9EFF-C7BC-A2BA-65CF688CD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837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103D-2F6A-AC26-F13C-AEBBCE84E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2EF3D-84A9-D514-0A8E-D5C0606FAE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A8BE3-7430-F971-3035-8315F92D5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868D2-4CA5-1DFD-119C-47F7BCEA0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B9642-A4A3-A01C-D977-AC48B8EE41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3A38C-8BDB-45E0-4CF3-B57F1560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AD3F17-9AFC-A7A8-C876-D472BA555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6BD0B8-2DBC-7956-15C9-21EB7D13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29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1CD16-3A09-3EF3-C133-A7E7334DE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D59B83-3932-E37A-C0A5-25FF0DD4C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D2FCE-67BF-5DDF-AA98-25C23AF1C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A20E00-4B48-5431-D460-D35B6EB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423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7170CA-2BA7-ABAE-6373-483E24BE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161EDE-82F8-8626-C083-AD36FEE17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96B34-375B-4B1B-FEB4-41C00B3A5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355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D53AD-8CDE-FB3F-9E1D-37167AC3B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DE435-B442-B535-4A2F-B0028D92D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B4F3FB-AC66-06C4-AC9A-6847D19C5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1E4D5-0CCF-3798-3DC9-5E3E6B53E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C81B4-9EAD-C428-8323-FE2CC9830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7AEB8-5D57-8B7C-A581-5A420DA7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309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67A95-6442-9577-1345-F92BD1202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99BF17-C21B-2239-B66C-7D41E4D267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A2E5C-F025-7188-8CA0-2EDEB9344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CC518-8B2E-DD37-1205-2DB548B6A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5A4B9C-F1E2-5CDF-C76B-0995A4057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166B1-AC8E-EC9A-B57E-1C9E48E8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7404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02A6-0BE3-B597-CCBF-E4AB1B8F9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A2F786-63AF-8C29-A6CA-C135B687F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CE2503-2625-4F46-5DD4-8A23927E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D29AB-780F-7559-E714-03B6934F7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4401-CBA9-2616-2171-7B0672C2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556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1ECED3-98F9-1D2A-F146-B8D217D2E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DBB19-EEAD-1C96-4AAC-BE9C126CD1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387A4-E12D-7715-46FE-EAC5BFC20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BB5C1C-AC4E-38FC-A4BB-E2F5009CB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59195-BB53-31DF-4F26-956BC54AF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1588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ctrTitle"/>
          </p:nvPr>
        </p:nvSpPr>
        <p:spPr>
          <a:xfrm>
            <a:off x="676656" y="494453"/>
            <a:ext cx="8595361" cy="550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384A"/>
              </a:buClr>
              <a:buSzPts val="1700"/>
              <a:buFont typeface="Arial"/>
              <a:buNone/>
              <a:defRPr sz="2267" cap="none">
                <a:solidFill>
                  <a:srgbClr val="25384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69" name="Google Shape;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07517" y="1"/>
            <a:ext cx="3784481" cy="120768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371864" y="6101351"/>
            <a:ext cx="5687633" cy="365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609585" lvl="0" indent="-304792" algn="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25384A"/>
              </a:buClr>
              <a:buSzPts val="1200"/>
              <a:buNone/>
              <a:defRPr sz="1600" b="1">
                <a:solidFill>
                  <a:srgbClr val="25384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25384A"/>
              </a:buClr>
              <a:buSzPts val="1800"/>
              <a:buNone/>
              <a:defRPr b="1">
                <a:solidFill>
                  <a:srgbClr val="25384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25384A"/>
              </a:buClr>
              <a:buSzPts val="1500"/>
              <a:buNone/>
              <a:defRPr b="1">
                <a:solidFill>
                  <a:srgbClr val="25384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25384A"/>
              </a:buClr>
              <a:buSzPts val="1400"/>
              <a:buNone/>
              <a:defRPr b="1">
                <a:solidFill>
                  <a:srgbClr val="25384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25384A"/>
              </a:buClr>
              <a:buSzPts val="1400"/>
              <a:buNone/>
              <a:defRPr b="1">
                <a:solidFill>
                  <a:srgbClr val="25384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2"/>
          </p:nvPr>
        </p:nvSpPr>
        <p:spPr>
          <a:xfrm>
            <a:off x="6371864" y="6490387"/>
            <a:ext cx="5687633" cy="21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lvl="0" indent="-304792" algn="r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rgbClr val="25384A"/>
              </a:buClr>
              <a:buSzPts val="700"/>
              <a:buNone/>
              <a:defRPr sz="933">
                <a:solidFill>
                  <a:srgbClr val="25384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304792" algn="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25384A"/>
              </a:buClr>
              <a:buSzPts val="1200"/>
              <a:buNone/>
              <a:defRPr sz="1600">
                <a:solidFill>
                  <a:srgbClr val="25384A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828754" lvl="2" indent="-304792" algn="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25384A"/>
              </a:buClr>
              <a:buSzPts val="1100"/>
              <a:buNone/>
              <a:defRPr sz="1467">
                <a:solidFill>
                  <a:srgbClr val="25384A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438339" lvl="3" indent="-304792" algn="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25384A"/>
              </a:buClr>
              <a:buSzPts val="900"/>
              <a:buNone/>
              <a:defRPr sz="1200">
                <a:solidFill>
                  <a:srgbClr val="25384A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3047924" lvl="4" indent="-304792" algn="r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rgbClr val="25384A"/>
              </a:buClr>
              <a:buSzPts val="900"/>
              <a:buNone/>
              <a:defRPr sz="1200">
                <a:solidFill>
                  <a:srgbClr val="25384A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657509" lvl="5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4267093" lvl="6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4876678" lvl="7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5486263" lvl="8" indent="-423323" algn="l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9645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489473-1F3C-AD6E-FB68-6FA2DDB0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3E08F-1783-3B7D-1BAF-377779A5E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5384F-A251-96E5-8FC2-27B3C61F39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445F81-F5F8-4B78-9244-57976734AE4F}" type="datetimeFigureOut">
              <a:rPr lang="en-GB" smtClean="0"/>
              <a:t>18/03/2026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C5096-E985-C308-1DC0-5B2B72F20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F96D3-EF8D-45FB-34DA-1C3F7F5D71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FA9CD9-CED0-4D30-8C21-10BF88EAFF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46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92;p40">
            <a:extLst>
              <a:ext uri="{FF2B5EF4-FFF2-40B4-BE49-F238E27FC236}">
                <a16:creationId xmlns:a16="http://schemas.microsoft.com/office/drawing/2014/main" id="{C2D4B55D-1A9F-C060-D97A-FD1EED7666AE}"/>
              </a:ext>
            </a:extLst>
          </p:cNvPr>
          <p:cNvSpPr txBox="1"/>
          <p:nvPr/>
        </p:nvSpPr>
        <p:spPr>
          <a:xfrm>
            <a:off x="0" y="542366"/>
            <a:ext cx="1058091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it" sz="3600" dirty="0">
                <a:solidFill>
                  <a:schemeClr val="dk2"/>
                </a:solidFill>
                <a:latin typeface="Calibri"/>
                <a:cs typeface="Calibri"/>
                <a:sym typeface="Calibri"/>
              </a:rPr>
              <a:t>Study 2: Driving fatigue and DST study </a:t>
            </a:r>
            <a:endParaRPr sz="3600" dirty="0">
              <a:solidFill>
                <a:schemeClr val="dk2"/>
              </a:solidFill>
              <a:latin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75570C-549A-1EC3-F9DF-01E6BBDCF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32" y="1453823"/>
            <a:ext cx="11819136" cy="52430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</Words>
  <Application>Microsoft Office PowerPoint</Application>
  <PresentationFormat>Widescreen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Giusti, Gianluca Dr (PG/R - Sch of Biosciences)</dc:creator>
  <cp:lastModifiedBy>Giusti, Gianluca Dr (PG/R - Sch of Biosciences)</cp:lastModifiedBy>
  <cp:revision>1</cp:revision>
  <dcterms:created xsi:type="dcterms:W3CDTF">2026-03-18T11:40:29Z</dcterms:created>
  <dcterms:modified xsi:type="dcterms:W3CDTF">2026-03-18T11:40:52Z</dcterms:modified>
</cp:coreProperties>
</file>