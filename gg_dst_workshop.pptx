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charts/chart1.xml" ContentType="application/vnd.openxmlformats-officedocument.drawingml.chart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charts/chart3.xml" ContentType="application/vnd.openxmlformats-officedocument.drawingml.chart+xml"/>
  <Override PartName="/ppt/notesSlides/notesSlide8.xml" ContentType="application/vnd.openxmlformats-officedocument.presentationml.notesSlide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charts/chart6.xml" ContentType="application/vnd.openxmlformats-officedocument.drawingml.chart+xml"/>
  <Override PartName="/ppt/notesSlides/notesSlide11.xml" ContentType="application/vnd.openxmlformats-officedocument.presentationml.notesSlide+xml"/>
  <Override PartName="/ppt/charts/chart7.xml" ContentType="application/vnd.openxmlformats-officedocument.drawingml.chart+xml"/>
  <Override PartName="/ppt/notesSlides/notesSlide12.xml" ContentType="application/vnd.openxmlformats-officedocument.presentationml.notesSlide+xml"/>
  <Override PartName="/ppt/charts/chart8.xml" ContentType="application/vnd.openxmlformats-officedocument.drawingml.chart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5"/>
  </p:notesMasterIdLst>
  <p:sldIdLst>
    <p:sldId id="256" r:id="rId2"/>
    <p:sldId id="267" r:id="rId3"/>
    <p:sldId id="257" r:id="rId4"/>
    <p:sldId id="258" r:id="rId5"/>
    <p:sldId id="26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5033" autoAdjust="0"/>
  </p:normalViewPr>
  <p:slideViewPr>
    <p:cSldViewPr snapToGrid="0" snapToObjects="1">
      <p:cViewPr varScale="1">
        <p:scale>
          <a:sx n="79" d="100"/>
          <a:sy n="79" d="100"/>
        </p:scale>
        <p:origin x="74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15218185016685637"/>
          <c:y val="7.5187546613128806E-2"/>
          <c:w val="0.67316806077631108"/>
          <c:h val="0.63585253931002539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3B8B-4426-BF0B-281A69E74220}"/>
              </c:ext>
            </c:extLst>
          </c:dPt>
          <c:dPt>
            <c:idx val="1"/>
            <c:bubble3D val="0"/>
            <c:spPr>
              <a:solidFill>
                <a:srgbClr val="1AB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B8B-4426-BF0B-281A69E74220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B8B-4426-BF0B-281A69E74220}"/>
              </c:ext>
            </c:extLst>
          </c:dPt>
          <c:dPt>
            <c:idx val="3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B8B-4426-BF0B-281A69E74220}"/>
              </c:ext>
            </c:extLst>
          </c:dPt>
          <c:dPt>
            <c:idx val="4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3B8B-4426-BF0B-281A69E7422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3B8B-4426-BF0B-281A69E7422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3B8B-4426-BF0B-281A69E7422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3B8B-4426-BF0B-281A69E74220}"/>
                </c:ext>
              </c:extLst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7-3B8B-4426-BF0B-281A69E74220}"/>
                </c:ext>
              </c:extLst>
            </c:dLbl>
            <c:dLbl>
              <c:idx val="4"/>
              <c:numFmt formatCode="0%" sourceLinked="0"/>
              <c:spPr/>
              <c:txPr>
                <a:bodyPr/>
                <a:lstStyle/>
                <a:p>
                  <a:pPr>
                    <a:defRPr sz="900" b="0" i="0" u="none" strike="noStrike">
                      <a:solidFill>
                        <a:srgbClr val="FFFFFF"/>
                      </a:solidFill>
                      <a:latin typeface="Arial"/>
                    </a:defRPr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9-3B8B-4426-BF0B-281A69E7422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it-IT"/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Sheet1!$A$2:$A$6</c:f>
              <c:strCache>
                <c:ptCount val="5"/>
                <c:pt idx="0">
                  <c:v>Europe (n=15)</c:v>
                </c:pt>
                <c:pt idx="1">
                  <c:v>USA/Canada (n=13)</c:v>
                </c:pt>
                <c:pt idx="2">
                  <c:v>Not specified (n=2)</c:v>
                </c:pt>
                <c:pt idx="3">
                  <c:v>Asia (n=1)</c:v>
                </c:pt>
                <c:pt idx="4">
                  <c:v>Oceania (n=1)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15</c:v>
                </c:pt>
                <c:pt idx="1">
                  <c:v>13</c:v>
                </c:pt>
                <c:pt idx="2">
                  <c:v>2</c:v>
                </c:pt>
                <c:pt idx="3">
                  <c:v>1</c:v>
                </c:pt>
                <c:pt idx="4">
                  <c:v>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3B8B-4426-BF0B-281A69E7422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r"/>
      <c:layout>
        <c:manualLayout>
          <c:xMode val="edge"/>
          <c:yMode val="edge"/>
          <c:x val="5.4597955638331544E-2"/>
          <c:y val="0.74181090523835835"/>
          <c:w val="0.94299493989236916"/>
          <c:h val="0.22095329660811414"/>
        </c:manualLayout>
      </c:layout>
      <c:overlay val="0"/>
      <c:txPr>
        <a:bodyPr/>
        <a:lstStyle/>
        <a:p>
          <a:pPr>
            <a:defRPr sz="140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Studies</c:v>
                </c:pt>
              </c:strCache>
            </c:strRef>
          </c:tx>
          <c:spPr>
            <a:solidFill>
              <a:srgbClr val="2980B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980B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8F4-4B0E-8EC6-76929C8B0B88}"/>
              </c:ext>
            </c:extLst>
          </c:dPt>
          <c:dPt>
            <c:idx val="1"/>
            <c:invertIfNegative val="0"/>
            <c:bubble3D val="0"/>
            <c:spPr>
              <a:solidFill>
                <a:srgbClr val="1ABC9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8F4-4B0E-8EC6-76929C8B0B88}"/>
              </c:ext>
            </c:extLst>
          </c:dPt>
          <c:dPt>
            <c:idx val="2"/>
            <c:invertIfNegative val="0"/>
            <c:bubble3D val="0"/>
            <c:spPr>
              <a:solidFill>
                <a:srgbClr val="F39C12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8F4-4B0E-8EC6-76929C8B0B88}"/>
              </c:ext>
            </c:extLst>
          </c:dPt>
          <c:dPt>
            <c:idx val="3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08F4-4B0E-8EC6-76929C8B0B88}"/>
              </c:ext>
            </c:extLst>
          </c:dPt>
          <c:dPt>
            <c:idx val="4"/>
            <c:invertIfNegative val="0"/>
            <c:bubble3D val="0"/>
            <c:spPr>
              <a:solidFill>
                <a:srgbClr val="7F8C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08F4-4B0E-8EC6-76929C8B0B88}"/>
              </c:ext>
            </c:extLst>
          </c:dPt>
          <c:dLbls>
            <c:delete val="1"/>
          </c:dLbls>
          <c:cat>
            <c:strRef>
              <c:f>Sheet1!$A$2:$A$6</c:f>
              <c:strCache>
                <c:ptCount val="5"/>
                <c:pt idx="0">
                  <c:v>All accidents</c:v>
                </c:pt>
                <c:pt idx="1">
                  <c:v>Fatal accidents</c:v>
                </c:pt>
                <c:pt idx="2">
                  <c:v>Motor vehicle</c:v>
                </c:pt>
                <c:pt idx="3">
                  <c:v>Animal-vehicle</c:v>
                </c:pt>
                <c:pt idx="4">
                  <c:v>Hospital admissions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14</c:v>
                </c:pt>
                <c:pt idx="1">
                  <c:v>8</c:v>
                </c:pt>
                <c:pt idx="2">
                  <c:v>5</c:v>
                </c:pt>
                <c:pt idx="3">
                  <c:v>3</c:v>
                </c:pt>
                <c:pt idx="4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A-08F4-4B0E-8EC6-76929C8B0B88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8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6745-445D-97A8-1A995B31C3EB}"/>
              </c:ext>
            </c:extLst>
          </c:dPt>
          <c:dPt>
            <c:idx val="1"/>
            <c:bubble3D val="0"/>
            <c:spPr>
              <a:solidFill>
                <a:srgbClr val="7F8C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6745-445D-97A8-1A995B31C3EB}"/>
              </c:ext>
            </c:extLst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6745-445D-97A8-1A995B31C3EB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6745-445D-97A8-1A995B31C3EB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6745-445D-97A8-1A995B31C3EB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6745-445D-97A8-1A995B31C3EB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Increase (50%)</c:v>
                </c:pt>
                <c:pt idx="1">
                  <c:v>No change (41%)</c:v>
                </c:pt>
                <c:pt idx="2">
                  <c:v>Reduction (9%)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9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6745-445D-97A8-1A995B31C3E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A2E45"/>
    </a:solidFill>
    <a:ln>
      <a:noFill/>
    </a:ln>
    <a:effectLst/>
  </c:spPr>
  <c:txPr>
    <a:bodyPr/>
    <a:lstStyle/>
    <a:p>
      <a:pPr>
        <a:defRPr sz="2000">
          <a:solidFill>
            <a:schemeClr val="bg1"/>
          </a:solidFill>
        </a:defRPr>
      </a:pPr>
      <a:endParaRPr lang="it-IT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>
        <c:manualLayout>
          <c:layoutTarget val="inner"/>
          <c:xMode val="edge"/>
          <c:yMode val="edge"/>
          <c:x val="0.20786870391201095"/>
          <c:y val="6.18170192978377E-2"/>
          <c:w val="0.63584989376327961"/>
          <c:h val="0.74863882111607838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7F8C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1658-4128-B488-B33BC7E1C840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1658-4128-B488-B33BC7E1C840}"/>
              </c:ext>
            </c:extLst>
          </c:dPt>
          <c:dPt>
            <c:idx val="2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1658-4128-B488-B33BC7E1C840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1658-4128-B488-B33BC7E1C840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1658-4128-B488-B33BC7E1C840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1658-4128-B488-B33BC7E1C840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No change (58%)</c:v>
                </c:pt>
                <c:pt idx="1">
                  <c:v>Increase (32%)</c:v>
                </c:pt>
                <c:pt idx="2">
                  <c:v>Reduction (10%)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11</c:v>
                </c:pt>
                <c:pt idx="1">
                  <c:v>6</c:v>
                </c:pt>
                <c:pt idx="2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658-4128-B488-B33BC7E1C84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layout>
        <c:manualLayout>
          <c:xMode val="edge"/>
          <c:yMode val="edge"/>
          <c:x val="7.4961044070674882E-3"/>
          <c:y val="0.82704493214707209"/>
          <c:w val="0.98911660635615817"/>
          <c:h val="0.14757975036715043"/>
        </c:manualLayout>
      </c:layout>
      <c:overlay val="0"/>
    </c:legend>
    <c:plotVisOnly val="1"/>
    <c:dispBlanksAs val="span"/>
    <c:showDLblsOverMax val="1"/>
  </c:chart>
  <c:spPr>
    <a:solidFill>
      <a:srgbClr val="1A2E45"/>
    </a:solidFill>
    <a:ln>
      <a:noFill/>
    </a:ln>
    <a:effectLst/>
  </c:spPr>
  <c:txPr>
    <a:bodyPr/>
    <a:lstStyle/>
    <a:p>
      <a:pPr>
        <a:defRPr sz="2000">
          <a:solidFill>
            <a:schemeClr val="bg1"/>
          </a:solidFill>
        </a:defRPr>
      </a:pPr>
      <a:endParaRPr lang="it-IT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Spring (n=22)</c:v>
                </c:pt>
              </c:strCache>
            </c:strRef>
          </c:tx>
          <c:spPr>
            <a:solidFill>
              <a:srgbClr val="1ABC9C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Reduction</c:v>
                </c:pt>
                <c:pt idx="1">
                  <c:v>Increase</c:v>
                </c:pt>
                <c:pt idx="2">
                  <c:v>No Change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11</c:v>
                </c:pt>
                <c:pt idx="2">
                  <c:v>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EA3-447C-A201-7DFCE62ABFF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Autumn (n=19)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dLbls>
            <c:delete val="1"/>
          </c:dLbls>
          <c:cat>
            <c:strRef>
              <c:f>Sheet1!$A$2:$A$4</c:f>
              <c:strCache>
                <c:ptCount val="3"/>
                <c:pt idx="0">
                  <c:v>Reduction</c:v>
                </c:pt>
                <c:pt idx="1">
                  <c:v>Increase</c:v>
                </c:pt>
                <c:pt idx="2">
                  <c:v>No Change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</c:v>
                </c:pt>
                <c:pt idx="1">
                  <c:v>6</c:v>
                </c:pt>
                <c:pt idx="2">
                  <c:v>11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EA3-447C-A201-7DFCE62ABFF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Studies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4D7F-4195-BFF3-FC2E8BE23E3F}"/>
              </c:ext>
            </c:extLst>
          </c:dPt>
          <c:dPt>
            <c:idx val="1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4D7F-4195-BFF3-FC2E8BE23E3F}"/>
              </c:ext>
            </c:extLst>
          </c:dPt>
          <c:dPt>
            <c:idx val="2"/>
            <c:bubble3D val="0"/>
            <c:spPr>
              <a:solidFill>
                <a:srgbClr val="7F8C8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4D7F-4195-BFF3-FC2E8BE23E3F}"/>
              </c:ext>
            </c:extLst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1-4D7F-4195-BFF3-FC2E8BE23E3F}"/>
                </c:ext>
              </c:extLst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4D7F-4195-BFF3-FC2E8BE23E3F}"/>
                </c:ext>
              </c:extLst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/>
                  </a:pPr>
                  <a:endParaRPr lang="it-IT"/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5-4D7F-4195-BFF3-FC2E8BE23E3F}"/>
                </c:ext>
              </c:extLst>
            </c:dLbl>
            <c:numFmt formatCode="0%" sourceLinked="0"/>
            <c:spPr>
              <a:noFill/>
              <a:ln>
                <a:noFill/>
              </a:ln>
              <a:effectLst/>
            </c:spPr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Sheet1!$A$2:$A$4</c:f>
              <c:strCache>
                <c:ptCount val="3"/>
                <c:pt idx="0">
                  <c:v>Reduction (53%)</c:v>
                </c:pt>
                <c:pt idx="1">
                  <c:v>Increase (23%)</c:v>
                </c:pt>
                <c:pt idx="2">
                  <c:v>No change (23%)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</c:v>
                </c:pt>
                <c:pt idx="1">
                  <c:v>3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4D7F-4195-BFF3-FC2E8BE23E3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  <c:showDLblsOverMax val="1"/>
  </c:chart>
  <c:spPr>
    <a:solidFill>
      <a:srgbClr val="1A2E45"/>
    </a:solidFill>
    <a:ln>
      <a:noFill/>
    </a:ln>
    <a:effectLst/>
  </c:spPr>
  <c:txPr>
    <a:bodyPr/>
    <a:lstStyle/>
    <a:p>
      <a:pPr>
        <a:defRPr sz="2000">
          <a:solidFill>
            <a:schemeClr val="bg1"/>
          </a:solidFill>
        </a:defRPr>
      </a:pPr>
      <a:endParaRPr lang="it-IT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Studies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27AE60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0A28-4948-85BE-5E8B23BF4E32}"/>
              </c:ext>
            </c:extLst>
          </c:dPt>
          <c:dPt>
            <c:idx val="1"/>
            <c:invertIfNegative val="0"/>
            <c:bubble3D val="0"/>
            <c:spPr>
              <a:solidFill>
                <a:srgbClr val="E74C3C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A28-4948-85BE-5E8B23BF4E32}"/>
              </c:ext>
            </c:extLst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↓ Reduction
(22%)</c:v>
                </c:pt>
                <c:pt idx="1">
                  <c:v>↑ Increase
(6%)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7</c:v>
                </c:pt>
                <c:pt idx="1">
                  <c:v>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0A28-4948-85BE-5E8B23BF4E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Reduction</c:v>
                </c:pt>
              </c:strCache>
            </c:strRef>
          </c:tx>
          <c:spPr>
            <a:solidFill>
              <a:srgbClr val="27AE60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Spring
(n=22)</c:v>
                </c:pt>
                <c:pt idx="1">
                  <c:v>Autumn
(n=19)</c:v>
                </c:pt>
                <c:pt idx="2">
                  <c:v>Long-term
(n=13)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</c:v>
                </c:pt>
                <c:pt idx="1">
                  <c:v>2</c:v>
                </c:pt>
                <c:pt idx="2">
                  <c:v>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CE9-4048-8CBE-C2AC91B9B560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Increase</c:v>
                </c:pt>
              </c:strCache>
            </c:strRef>
          </c:tx>
          <c:spPr>
            <a:solidFill>
              <a:srgbClr val="E74C3C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Spring
(n=22)</c:v>
                </c:pt>
                <c:pt idx="1">
                  <c:v>Autumn
(n=19)</c:v>
                </c:pt>
                <c:pt idx="2">
                  <c:v>Long-term
(n=13)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11</c:v>
                </c:pt>
                <c:pt idx="1">
                  <c:v>6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CE9-4048-8CBE-C2AC91B9B560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No change</c:v>
                </c:pt>
              </c:strCache>
            </c:strRef>
          </c:tx>
          <c:spPr>
            <a:solidFill>
              <a:srgbClr val="7F8C8D"/>
            </a:solidFill>
            <a:effectLst/>
          </c:spPr>
          <c:invertIfNegative val="0"/>
          <c:cat>
            <c:strRef>
              <c:f>Sheet1!$A$2:$A$4</c:f>
              <c:strCache>
                <c:ptCount val="3"/>
                <c:pt idx="0">
                  <c:v>Spring
(n=22)</c:v>
                </c:pt>
                <c:pt idx="1">
                  <c:v>Autumn
(n=19)</c:v>
                </c:pt>
                <c:pt idx="2">
                  <c:v>Long-term
(n=13)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9</c:v>
                </c:pt>
                <c:pt idx="1">
                  <c:v>11</c:v>
                </c:pt>
                <c:pt idx="2">
                  <c:v>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CE9-4048-8CBE-C2AC91B9B560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50"/>
        <c:overlap val="10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1E3A52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chemeClr val="bg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chemeClr val="bg1"/>
              </a:solidFill>
            </a:defRPr>
          </a:pPr>
          <a:endParaRPr lang="en-US"/>
        </a:p>
      </c:txPr>
    </c:legend>
    <c:plotVisOnly val="1"/>
    <c:dispBlanksAs val="span"/>
    <c:showDLblsOverMax val="1"/>
  </c:chart>
  <c:spPr>
    <a:solidFill>
      <a:srgbClr val="1A2E45"/>
    </a:solidFill>
    <a:ln>
      <a:noFill/>
    </a:ln>
    <a:effectLst/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1F0696-C07A-4F2C-A3D1-BB220544D2A0}" type="doc">
      <dgm:prSet loTypeId="urn:microsoft.com/office/officeart/2005/8/layout/hierarchy1" loCatId="hierarchy" qsTypeId="urn:microsoft.com/office/officeart/2005/8/quickstyle/simple5" qsCatId="simple" csTypeId="urn:microsoft.com/office/officeart/2005/8/colors/accent1_1" csCatId="accent1" phldr="1"/>
      <dgm:spPr/>
      <dgm:t>
        <a:bodyPr/>
        <a:lstStyle/>
        <a:p>
          <a:endParaRPr lang="en-US"/>
        </a:p>
      </dgm:t>
    </dgm:pt>
    <dgm:pt modelId="{FB49C02A-8B46-4A98-9E0E-BEB61EF5712A}">
      <dgm:prSet custT="1"/>
      <dgm:spPr/>
      <dgm:t>
        <a:bodyPr/>
        <a:lstStyle/>
        <a:p>
          <a:r>
            <a:rPr lang="en-US" sz="2800" dirty="0">
              <a:latin typeface="Arial" panose="020B0604020202020204" pitchFamily="34" charset="0"/>
              <a:cs typeface="Arial" panose="020B0604020202020204" pitchFamily="34" charset="0"/>
            </a:rPr>
            <a:t>Repositories used</a:t>
          </a:r>
        </a:p>
      </dgm:t>
    </dgm:pt>
    <dgm:pt modelId="{11BC1940-663B-4C57-9515-1D06411F3CB1}" type="parTrans" cxnId="{763A67D2-764A-4AF1-ADDB-6E92F5553C24}">
      <dgm:prSet/>
      <dgm:spPr/>
      <dgm:t>
        <a:bodyPr/>
        <a:lstStyle/>
        <a:p>
          <a:endParaRPr lang="en-US"/>
        </a:p>
      </dgm:t>
    </dgm:pt>
    <dgm:pt modelId="{0CEADB97-FB11-48DC-A8F7-93A7BB4250DC}" type="sibTrans" cxnId="{763A67D2-764A-4AF1-ADDB-6E92F5553C24}">
      <dgm:prSet/>
      <dgm:spPr/>
      <dgm:t>
        <a:bodyPr/>
        <a:lstStyle/>
        <a:p>
          <a:endParaRPr lang="en-US"/>
        </a:p>
      </dgm:t>
    </dgm:pt>
    <dgm:pt modelId="{40F9A5D4-FC4E-48B3-8981-339242190B6D}">
      <dgm:prSet custT="1"/>
      <dgm:spPr/>
      <dgm:t>
        <a:bodyPr/>
        <a:lstStyle/>
        <a:p>
          <a:r>
            <a:rPr lang="en-US" sz="2400">
              <a:latin typeface="Arial" panose="020B0604020202020204" pitchFamily="34" charset="0"/>
              <a:cs typeface="Arial" panose="020B0604020202020204" pitchFamily="34" charset="0"/>
            </a:rPr>
            <a:t>PubMed</a:t>
          </a:r>
        </a:p>
        <a:p>
          <a:r>
            <a:rPr lang="en-US" sz="2400">
              <a:latin typeface="Arial" panose="020B0604020202020204" pitchFamily="34" charset="0"/>
              <a:cs typeface="Arial" panose="020B0604020202020204" pitchFamily="34" charset="0"/>
            </a:rPr>
            <a:t>(n=116) 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355471E4-DD16-4E33-A7DF-16E9F553B509}" type="parTrans" cxnId="{14B080C7-61C7-4BE1-8C04-D56BD8B6F8BE}">
      <dgm:prSet/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F34391A8-1E49-432A-8DB5-B30E31590E0D}" type="sibTrans" cxnId="{14B080C7-61C7-4BE1-8C04-D56BD8B6F8BE}">
      <dgm:prSet/>
      <dgm:spPr/>
      <dgm:t>
        <a:bodyPr/>
        <a:lstStyle/>
        <a:p>
          <a:endParaRPr lang="en-US"/>
        </a:p>
      </dgm:t>
    </dgm:pt>
    <dgm:pt modelId="{6D36D6D7-A8EA-4126-A1DB-2EA14E2B9415}">
      <dgm:prSet custT="1"/>
      <dgm:spPr/>
      <dgm:t>
        <a:bodyPr/>
        <a:lstStyle/>
        <a:p>
          <a:r>
            <a:rPr lang="en-US" sz="2400">
              <a:latin typeface="Arial" panose="020B0604020202020204" pitchFamily="34" charset="0"/>
              <a:cs typeface="Arial" panose="020B0604020202020204" pitchFamily="34" charset="0"/>
            </a:rPr>
            <a:t>Scopus</a:t>
          </a:r>
        </a:p>
        <a:p>
          <a:r>
            <a:rPr lang="en-US" sz="2400">
              <a:latin typeface="Arial" panose="020B0604020202020204" pitchFamily="34" charset="0"/>
              <a:cs typeface="Arial" panose="020B0604020202020204" pitchFamily="34" charset="0"/>
            </a:rPr>
            <a:t>(n=285) 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00E6886-1447-4BAD-AB26-19033F8F9A37}" type="parTrans" cxnId="{92B84503-C402-4AA5-94CD-BB6BBD65DE7C}">
      <dgm:prSet/>
      <dgm:spPr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DB33EE7D-EBD4-4D42-8131-E5259BFC8265}" type="sibTrans" cxnId="{92B84503-C402-4AA5-94CD-BB6BBD65DE7C}">
      <dgm:prSet/>
      <dgm:spPr/>
      <dgm:t>
        <a:bodyPr/>
        <a:lstStyle/>
        <a:p>
          <a:endParaRPr lang="en-US"/>
        </a:p>
      </dgm:t>
    </dgm:pt>
    <dgm:pt modelId="{A71B6BE6-B964-48BC-8261-1260724FBF2B}">
      <dgm:prSet custT="1"/>
      <dgm:spPr/>
      <dgm:t>
        <a:bodyPr/>
        <a:lstStyle/>
        <a:p>
          <a:r>
            <a:rPr lang="en-US" sz="2400">
              <a:latin typeface="Arial" panose="020B0604020202020204" pitchFamily="34" charset="0"/>
              <a:cs typeface="Arial" panose="020B0604020202020204" pitchFamily="34" charset="0"/>
            </a:rPr>
            <a:t>Web of Science</a:t>
          </a:r>
        </a:p>
        <a:p>
          <a:r>
            <a:rPr lang="en-US" sz="2400">
              <a:latin typeface="Arial" panose="020B0604020202020204" pitchFamily="34" charset="0"/>
              <a:cs typeface="Arial" panose="020B0604020202020204" pitchFamily="34" charset="0"/>
            </a:rPr>
            <a:t>(n=300) </a:t>
          </a:r>
          <a:endParaRPr lang="en-US" sz="2400" dirty="0">
            <a:latin typeface="Arial" panose="020B0604020202020204" pitchFamily="34" charset="0"/>
            <a:cs typeface="Arial" panose="020B0604020202020204" pitchFamily="34" charset="0"/>
          </a:endParaRPr>
        </a:p>
      </dgm:t>
    </dgm:pt>
    <dgm:pt modelId="{A6CD6F22-7222-4976-979F-73775098BEA1}" type="parTrans" cxnId="{07E808B6-E82E-4F0A-9AB6-0D7CAE79B213}">
      <dgm:prSet/>
      <dgm:spPr>
        <a:solidFill>
          <a:schemeClr val="bg1"/>
        </a:solidFill>
        <a:ln>
          <a:solidFill>
            <a:schemeClr val="bg1"/>
          </a:solidFill>
        </a:ln>
      </dgm:spPr>
      <dgm:t>
        <a:bodyPr/>
        <a:lstStyle/>
        <a:p>
          <a:endParaRPr lang="en-US"/>
        </a:p>
      </dgm:t>
    </dgm:pt>
    <dgm:pt modelId="{A152956D-A438-4A01-8184-A3C69C1963A4}" type="sibTrans" cxnId="{07E808B6-E82E-4F0A-9AB6-0D7CAE79B213}">
      <dgm:prSet/>
      <dgm:spPr/>
      <dgm:t>
        <a:bodyPr/>
        <a:lstStyle/>
        <a:p>
          <a:endParaRPr lang="en-US"/>
        </a:p>
      </dgm:t>
    </dgm:pt>
    <dgm:pt modelId="{B1DB190D-89F3-4694-B090-F21A1CFAF8FB}" type="pres">
      <dgm:prSet presAssocID="{881F0696-C07A-4F2C-A3D1-BB220544D2A0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9C04910B-E5EA-4B70-AB0B-0763EBD34DCA}" type="pres">
      <dgm:prSet presAssocID="{FB49C02A-8B46-4A98-9E0E-BEB61EF5712A}" presName="hierRoot1" presStyleCnt="0"/>
      <dgm:spPr/>
    </dgm:pt>
    <dgm:pt modelId="{A4ABBA6C-850C-4605-A628-BECCDB1CC8E3}" type="pres">
      <dgm:prSet presAssocID="{FB49C02A-8B46-4A98-9E0E-BEB61EF5712A}" presName="composite" presStyleCnt="0"/>
      <dgm:spPr/>
    </dgm:pt>
    <dgm:pt modelId="{B7223DD5-1385-4CA6-8ACF-4415E3E683CC}" type="pres">
      <dgm:prSet presAssocID="{FB49C02A-8B46-4A98-9E0E-BEB61EF5712A}" presName="background" presStyleLbl="node0" presStyleIdx="0" presStyleCnt="1"/>
      <dgm:spPr/>
    </dgm:pt>
    <dgm:pt modelId="{73B2484D-9BCF-4A66-8AA4-BEC98073B2D1}" type="pres">
      <dgm:prSet presAssocID="{FB49C02A-8B46-4A98-9E0E-BEB61EF5712A}" presName="text" presStyleLbl="fgAcc0" presStyleIdx="0" presStyleCnt="1">
        <dgm:presLayoutVars>
          <dgm:chPref val="3"/>
        </dgm:presLayoutVars>
      </dgm:prSet>
      <dgm:spPr/>
    </dgm:pt>
    <dgm:pt modelId="{1E089B29-CD09-464B-AF99-F2B136580515}" type="pres">
      <dgm:prSet presAssocID="{FB49C02A-8B46-4A98-9E0E-BEB61EF5712A}" presName="hierChild2" presStyleCnt="0"/>
      <dgm:spPr/>
    </dgm:pt>
    <dgm:pt modelId="{90F9E800-C2BA-409D-A3AE-E936FFBC9DD3}" type="pres">
      <dgm:prSet presAssocID="{355471E4-DD16-4E33-A7DF-16E9F553B509}" presName="Name10" presStyleLbl="parChTrans1D2" presStyleIdx="0" presStyleCnt="3"/>
      <dgm:spPr/>
    </dgm:pt>
    <dgm:pt modelId="{22D159AB-8CA1-4486-97B5-7510AF52410B}" type="pres">
      <dgm:prSet presAssocID="{40F9A5D4-FC4E-48B3-8981-339242190B6D}" presName="hierRoot2" presStyleCnt="0"/>
      <dgm:spPr/>
    </dgm:pt>
    <dgm:pt modelId="{D1A5A59C-3E47-4881-AA7B-B0C74048F563}" type="pres">
      <dgm:prSet presAssocID="{40F9A5D4-FC4E-48B3-8981-339242190B6D}" presName="composite2" presStyleCnt="0"/>
      <dgm:spPr/>
    </dgm:pt>
    <dgm:pt modelId="{A9C1265F-115B-47EB-9766-E5C4E41091C6}" type="pres">
      <dgm:prSet presAssocID="{40F9A5D4-FC4E-48B3-8981-339242190B6D}" presName="background2" presStyleLbl="node2" presStyleIdx="0" presStyleCnt="3"/>
      <dgm:spPr/>
    </dgm:pt>
    <dgm:pt modelId="{964E2C3B-D89B-4733-8DF6-087F8E1D154A}" type="pres">
      <dgm:prSet presAssocID="{40F9A5D4-FC4E-48B3-8981-339242190B6D}" presName="text2" presStyleLbl="fgAcc2" presStyleIdx="0" presStyleCnt="3">
        <dgm:presLayoutVars>
          <dgm:chPref val="3"/>
        </dgm:presLayoutVars>
      </dgm:prSet>
      <dgm:spPr/>
    </dgm:pt>
    <dgm:pt modelId="{59173841-50F2-4C88-AEC0-5958427887EC}" type="pres">
      <dgm:prSet presAssocID="{40F9A5D4-FC4E-48B3-8981-339242190B6D}" presName="hierChild3" presStyleCnt="0"/>
      <dgm:spPr/>
    </dgm:pt>
    <dgm:pt modelId="{6617068F-DE61-46C6-9743-C325149D5A7C}" type="pres">
      <dgm:prSet presAssocID="{A00E6886-1447-4BAD-AB26-19033F8F9A37}" presName="Name10" presStyleLbl="parChTrans1D2" presStyleIdx="1" presStyleCnt="3"/>
      <dgm:spPr/>
    </dgm:pt>
    <dgm:pt modelId="{51BED0EB-A531-4244-8569-2B175ED2F047}" type="pres">
      <dgm:prSet presAssocID="{6D36D6D7-A8EA-4126-A1DB-2EA14E2B9415}" presName="hierRoot2" presStyleCnt="0"/>
      <dgm:spPr/>
    </dgm:pt>
    <dgm:pt modelId="{0D938872-3196-444B-9A8B-7A709349EB93}" type="pres">
      <dgm:prSet presAssocID="{6D36D6D7-A8EA-4126-A1DB-2EA14E2B9415}" presName="composite2" presStyleCnt="0"/>
      <dgm:spPr/>
    </dgm:pt>
    <dgm:pt modelId="{1ED9384F-60E5-4921-83D5-24D851089284}" type="pres">
      <dgm:prSet presAssocID="{6D36D6D7-A8EA-4126-A1DB-2EA14E2B9415}" presName="background2" presStyleLbl="node2" presStyleIdx="1" presStyleCnt="3"/>
      <dgm:spPr/>
    </dgm:pt>
    <dgm:pt modelId="{BAED7242-34DC-4D17-A908-0B07B65F9063}" type="pres">
      <dgm:prSet presAssocID="{6D36D6D7-A8EA-4126-A1DB-2EA14E2B9415}" presName="text2" presStyleLbl="fgAcc2" presStyleIdx="1" presStyleCnt="3">
        <dgm:presLayoutVars>
          <dgm:chPref val="3"/>
        </dgm:presLayoutVars>
      </dgm:prSet>
      <dgm:spPr/>
    </dgm:pt>
    <dgm:pt modelId="{A9220FEE-9DDA-4DDE-8689-1AAF0B426DDD}" type="pres">
      <dgm:prSet presAssocID="{6D36D6D7-A8EA-4126-A1DB-2EA14E2B9415}" presName="hierChild3" presStyleCnt="0"/>
      <dgm:spPr/>
    </dgm:pt>
    <dgm:pt modelId="{D5CDE268-B8AF-4BC9-ADDB-008E7E3725BE}" type="pres">
      <dgm:prSet presAssocID="{A6CD6F22-7222-4976-979F-73775098BEA1}" presName="Name10" presStyleLbl="parChTrans1D2" presStyleIdx="2" presStyleCnt="3"/>
      <dgm:spPr/>
    </dgm:pt>
    <dgm:pt modelId="{59E383C9-8B0E-464D-848A-9010406D97A2}" type="pres">
      <dgm:prSet presAssocID="{A71B6BE6-B964-48BC-8261-1260724FBF2B}" presName="hierRoot2" presStyleCnt="0"/>
      <dgm:spPr/>
    </dgm:pt>
    <dgm:pt modelId="{AE4CF723-26F4-4A75-9524-99FEE8B51ABD}" type="pres">
      <dgm:prSet presAssocID="{A71B6BE6-B964-48BC-8261-1260724FBF2B}" presName="composite2" presStyleCnt="0"/>
      <dgm:spPr/>
    </dgm:pt>
    <dgm:pt modelId="{61963523-2761-4BD0-8817-F6B0FED40548}" type="pres">
      <dgm:prSet presAssocID="{A71B6BE6-B964-48BC-8261-1260724FBF2B}" presName="background2" presStyleLbl="node2" presStyleIdx="2" presStyleCnt="3"/>
      <dgm:spPr/>
    </dgm:pt>
    <dgm:pt modelId="{4983EC64-2036-48ED-92BD-EB304F7FC763}" type="pres">
      <dgm:prSet presAssocID="{A71B6BE6-B964-48BC-8261-1260724FBF2B}" presName="text2" presStyleLbl="fgAcc2" presStyleIdx="2" presStyleCnt="3">
        <dgm:presLayoutVars>
          <dgm:chPref val="3"/>
        </dgm:presLayoutVars>
      </dgm:prSet>
      <dgm:spPr/>
    </dgm:pt>
    <dgm:pt modelId="{0D80C8E2-E009-4216-B50E-9C7555367320}" type="pres">
      <dgm:prSet presAssocID="{A71B6BE6-B964-48BC-8261-1260724FBF2B}" presName="hierChild3" presStyleCnt="0"/>
      <dgm:spPr/>
    </dgm:pt>
  </dgm:ptLst>
  <dgm:cxnLst>
    <dgm:cxn modelId="{92B84503-C402-4AA5-94CD-BB6BBD65DE7C}" srcId="{FB49C02A-8B46-4A98-9E0E-BEB61EF5712A}" destId="{6D36D6D7-A8EA-4126-A1DB-2EA14E2B9415}" srcOrd="1" destOrd="0" parTransId="{A00E6886-1447-4BAD-AB26-19033F8F9A37}" sibTransId="{DB33EE7D-EBD4-4D42-8131-E5259BFC8265}"/>
    <dgm:cxn modelId="{DBA7130F-C248-477E-B0DC-01C2BF877631}" type="presOf" srcId="{40F9A5D4-FC4E-48B3-8981-339242190B6D}" destId="{964E2C3B-D89B-4733-8DF6-087F8E1D154A}" srcOrd="0" destOrd="0" presId="urn:microsoft.com/office/officeart/2005/8/layout/hierarchy1"/>
    <dgm:cxn modelId="{5AB4FE14-616E-49A8-BC48-06CE1BBCA7BA}" type="presOf" srcId="{881F0696-C07A-4F2C-A3D1-BB220544D2A0}" destId="{B1DB190D-89F3-4694-B090-F21A1CFAF8FB}" srcOrd="0" destOrd="0" presId="urn:microsoft.com/office/officeart/2005/8/layout/hierarchy1"/>
    <dgm:cxn modelId="{C1A3D849-13DC-4607-B6D1-927E57073C4A}" type="presOf" srcId="{6D36D6D7-A8EA-4126-A1DB-2EA14E2B9415}" destId="{BAED7242-34DC-4D17-A908-0B07B65F9063}" srcOrd="0" destOrd="0" presId="urn:microsoft.com/office/officeart/2005/8/layout/hierarchy1"/>
    <dgm:cxn modelId="{BC48184B-8C8F-4FE4-8411-9AC407BEC69C}" type="presOf" srcId="{A71B6BE6-B964-48BC-8261-1260724FBF2B}" destId="{4983EC64-2036-48ED-92BD-EB304F7FC763}" srcOrd="0" destOrd="0" presId="urn:microsoft.com/office/officeart/2005/8/layout/hierarchy1"/>
    <dgm:cxn modelId="{09DFD355-AAC7-46D4-9D8C-0E32FD52C4C8}" type="presOf" srcId="{355471E4-DD16-4E33-A7DF-16E9F553B509}" destId="{90F9E800-C2BA-409D-A3AE-E936FFBC9DD3}" srcOrd="0" destOrd="0" presId="urn:microsoft.com/office/officeart/2005/8/layout/hierarchy1"/>
    <dgm:cxn modelId="{F1AF5976-A795-47E0-8F76-CA42E24A8B49}" type="presOf" srcId="{FB49C02A-8B46-4A98-9E0E-BEB61EF5712A}" destId="{73B2484D-9BCF-4A66-8AA4-BEC98073B2D1}" srcOrd="0" destOrd="0" presId="urn:microsoft.com/office/officeart/2005/8/layout/hierarchy1"/>
    <dgm:cxn modelId="{07E808B6-E82E-4F0A-9AB6-0D7CAE79B213}" srcId="{FB49C02A-8B46-4A98-9E0E-BEB61EF5712A}" destId="{A71B6BE6-B964-48BC-8261-1260724FBF2B}" srcOrd="2" destOrd="0" parTransId="{A6CD6F22-7222-4976-979F-73775098BEA1}" sibTransId="{A152956D-A438-4A01-8184-A3C69C1963A4}"/>
    <dgm:cxn modelId="{56D7E0B6-9FBE-4677-87E5-1579F86735ED}" type="presOf" srcId="{A00E6886-1447-4BAD-AB26-19033F8F9A37}" destId="{6617068F-DE61-46C6-9743-C325149D5A7C}" srcOrd="0" destOrd="0" presId="urn:microsoft.com/office/officeart/2005/8/layout/hierarchy1"/>
    <dgm:cxn modelId="{2F0182C5-738C-4D72-88C3-C97941C5E01B}" type="presOf" srcId="{A6CD6F22-7222-4976-979F-73775098BEA1}" destId="{D5CDE268-B8AF-4BC9-ADDB-008E7E3725BE}" srcOrd="0" destOrd="0" presId="urn:microsoft.com/office/officeart/2005/8/layout/hierarchy1"/>
    <dgm:cxn modelId="{14B080C7-61C7-4BE1-8C04-D56BD8B6F8BE}" srcId="{FB49C02A-8B46-4A98-9E0E-BEB61EF5712A}" destId="{40F9A5D4-FC4E-48B3-8981-339242190B6D}" srcOrd="0" destOrd="0" parTransId="{355471E4-DD16-4E33-A7DF-16E9F553B509}" sibTransId="{F34391A8-1E49-432A-8DB5-B30E31590E0D}"/>
    <dgm:cxn modelId="{763A67D2-764A-4AF1-ADDB-6E92F5553C24}" srcId="{881F0696-C07A-4F2C-A3D1-BB220544D2A0}" destId="{FB49C02A-8B46-4A98-9E0E-BEB61EF5712A}" srcOrd="0" destOrd="0" parTransId="{11BC1940-663B-4C57-9515-1D06411F3CB1}" sibTransId="{0CEADB97-FB11-48DC-A8F7-93A7BB4250DC}"/>
    <dgm:cxn modelId="{D90453DD-7C94-41C8-9A75-1676838FB3E3}" type="presParOf" srcId="{B1DB190D-89F3-4694-B090-F21A1CFAF8FB}" destId="{9C04910B-E5EA-4B70-AB0B-0763EBD34DCA}" srcOrd="0" destOrd="0" presId="urn:microsoft.com/office/officeart/2005/8/layout/hierarchy1"/>
    <dgm:cxn modelId="{F95184B1-92FE-49FA-B3E8-4C5786825D42}" type="presParOf" srcId="{9C04910B-E5EA-4B70-AB0B-0763EBD34DCA}" destId="{A4ABBA6C-850C-4605-A628-BECCDB1CC8E3}" srcOrd="0" destOrd="0" presId="urn:microsoft.com/office/officeart/2005/8/layout/hierarchy1"/>
    <dgm:cxn modelId="{6354F063-CE37-402C-95B9-3E7771015C6A}" type="presParOf" srcId="{A4ABBA6C-850C-4605-A628-BECCDB1CC8E3}" destId="{B7223DD5-1385-4CA6-8ACF-4415E3E683CC}" srcOrd="0" destOrd="0" presId="urn:microsoft.com/office/officeart/2005/8/layout/hierarchy1"/>
    <dgm:cxn modelId="{F1931CEB-8C3A-417C-BF14-1FF40236CD47}" type="presParOf" srcId="{A4ABBA6C-850C-4605-A628-BECCDB1CC8E3}" destId="{73B2484D-9BCF-4A66-8AA4-BEC98073B2D1}" srcOrd="1" destOrd="0" presId="urn:microsoft.com/office/officeart/2005/8/layout/hierarchy1"/>
    <dgm:cxn modelId="{D19C1C1A-CD02-43A5-AA86-2E0F3C3BD8CF}" type="presParOf" srcId="{9C04910B-E5EA-4B70-AB0B-0763EBD34DCA}" destId="{1E089B29-CD09-464B-AF99-F2B136580515}" srcOrd="1" destOrd="0" presId="urn:microsoft.com/office/officeart/2005/8/layout/hierarchy1"/>
    <dgm:cxn modelId="{1AAFEF05-E2DE-4FC6-811A-105C38E4840D}" type="presParOf" srcId="{1E089B29-CD09-464B-AF99-F2B136580515}" destId="{90F9E800-C2BA-409D-A3AE-E936FFBC9DD3}" srcOrd="0" destOrd="0" presId="urn:microsoft.com/office/officeart/2005/8/layout/hierarchy1"/>
    <dgm:cxn modelId="{744C20DA-FA2B-4704-93E5-C2C5F41484AD}" type="presParOf" srcId="{1E089B29-CD09-464B-AF99-F2B136580515}" destId="{22D159AB-8CA1-4486-97B5-7510AF52410B}" srcOrd="1" destOrd="0" presId="urn:microsoft.com/office/officeart/2005/8/layout/hierarchy1"/>
    <dgm:cxn modelId="{BCE6D875-11AA-415A-9EC3-23D94975B0F1}" type="presParOf" srcId="{22D159AB-8CA1-4486-97B5-7510AF52410B}" destId="{D1A5A59C-3E47-4881-AA7B-B0C74048F563}" srcOrd="0" destOrd="0" presId="urn:microsoft.com/office/officeart/2005/8/layout/hierarchy1"/>
    <dgm:cxn modelId="{F04AC0CD-6A8B-4FA5-9A98-9E3331D172AD}" type="presParOf" srcId="{D1A5A59C-3E47-4881-AA7B-B0C74048F563}" destId="{A9C1265F-115B-47EB-9766-E5C4E41091C6}" srcOrd="0" destOrd="0" presId="urn:microsoft.com/office/officeart/2005/8/layout/hierarchy1"/>
    <dgm:cxn modelId="{CC1E297D-59AB-41B3-84CB-6F787F1F9355}" type="presParOf" srcId="{D1A5A59C-3E47-4881-AA7B-B0C74048F563}" destId="{964E2C3B-D89B-4733-8DF6-087F8E1D154A}" srcOrd="1" destOrd="0" presId="urn:microsoft.com/office/officeart/2005/8/layout/hierarchy1"/>
    <dgm:cxn modelId="{62070CE1-F70C-4790-B07B-5186C11D2B30}" type="presParOf" srcId="{22D159AB-8CA1-4486-97B5-7510AF52410B}" destId="{59173841-50F2-4C88-AEC0-5958427887EC}" srcOrd="1" destOrd="0" presId="urn:microsoft.com/office/officeart/2005/8/layout/hierarchy1"/>
    <dgm:cxn modelId="{9C270CA6-CBDC-430E-A085-69AFB426766E}" type="presParOf" srcId="{1E089B29-CD09-464B-AF99-F2B136580515}" destId="{6617068F-DE61-46C6-9743-C325149D5A7C}" srcOrd="2" destOrd="0" presId="urn:microsoft.com/office/officeart/2005/8/layout/hierarchy1"/>
    <dgm:cxn modelId="{A66E920C-DA55-4A47-A7DC-48AF1D795844}" type="presParOf" srcId="{1E089B29-CD09-464B-AF99-F2B136580515}" destId="{51BED0EB-A531-4244-8569-2B175ED2F047}" srcOrd="3" destOrd="0" presId="urn:microsoft.com/office/officeart/2005/8/layout/hierarchy1"/>
    <dgm:cxn modelId="{C8F875BD-9676-41B4-B9E0-266CF1F82A79}" type="presParOf" srcId="{51BED0EB-A531-4244-8569-2B175ED2F047}" destId="{0D938872-3196-444B-9A8B-7A709349EB93}" srcOrd="0" destOrd="0" presId="urn:microsoft.com/office/officeart/2005/8/layout/hierarchy1"/>
    <dgm:cxn modelId="{3F4A367B-A69D-4830-B980-88F2BB77225F}" type="presParOf" srcId="{0D938872-3196-444B-9A8B-7A709349EB93}" destId="{1ED9384F-60E5-4921-83D5-24D851089284}" srcOrd="0" destOrd="0" presId="urn:microsoft.com/office/officeart/2005/8/layout/hierarchy1"/>
    <dgm:cxn modelId="{89DA7696-CB61-4123-B157-73FFD1F96121}" type="presParOf" srcId="{0D938872-3196-444B-9A8B-7A709349EB93}" destId="{BAED7242-34DC-4D17-A908-0B07B65F9063}" srcOrd="1" destOrd="0" presId="urn:microsoft.com/office/officeart/2005/8/layout/hierarchy1"/>
    <dgm:cxn modelId="{80735C83-7243-4677-BA48-3A5E061BDB26}" type="presParOf" srcId="{51BED0EB-A531-4244-8569-2B175ED2F047}" destId="{A9220FEE-9DDA-4DDE-8689-1AAF0B426DDD}" srcOrd="1" destOrd="0" presId="urn:microsoft.com/office/officeart/2005/8/layout/hierarchy1"/>
    <dgm:cxn modelId="{9F0595D4-BC51-45EE-86CE-4777FE730D98}" type="presParOf" srcId="{1E089B29-CD09-464B-AF99-F2B136580515}" destId="{D5CDE268-B8AF-4BC9-ADDB-008E7E3725BE}" srcOrd="4" destOrd="0" presId="urn:microsoft.com/office/officeart/2005/8/layout/hierarchy1"/>
    <dgm:cxn modelId="{91941BF6-5F22-4E64-90E4-FA2BB9EDAF5F}" type="presParOf" srcId="{1E089B29-CD09-464B-AF99-F2B136580515}" destId="{59E383C9-8B0E-464D-848A-9010406D97A2}" srcOrd="5" destOrd="0" presId="urn:microsoft.com/office/officeart/2005/8/layout/hierarchy1"/>
    <dgm:cxn modelId="{EACC10DC-591D-4D6E-95A4-31BEF056E9B8}" type="presParOf" srcId="{59E383C9-8B0E-464D-848A-9010406D97A2}" destId="{AE4CF723-26F4-4A75-9524-99FEE8B51ABD}" srcOrd="0" destOrd="0" presId="urn:microsoft.com/office/officeart/2005/8/layout/hierarchy1"/>
    <dgm:cxn modelId="{506E26AA-7FEF-41B2-B972-95C5D67AB09C}" type="presParOf" srcId="{AE4CF723-26F4-4A75-9524-99FEE8B51ABD}" destId="{61963523-2761-4BD0-8817-F6B0FED40548}" srcOrd="0" destOrd="0" presId="urn:microsoft.com/office/officeart/2005/8/layout/hierarchy1"/>
    <dgm:cxn modelId="{C7939C05-72AB-477F-95E8-2BEC8EA46EDA}" type="presParOf" srcId="{AE4CF723-26F4-4A75-9524-99FEE8B51ABD}" destId="{4983EC64-2036-48ED-92BD-EB304F7FC763}" srcOrd="1" destOrd="0" presId="urn:microsoft.com/office/officeart/2005/8/layout/hierarchy1"/>
    <dgm:cxn modelId="{73D92F50-4D77-4292-87FF-679231B3418E}" type="presParOf" srcId="{59E383C9-8B0E-464D-848A-9010406D97A2}" destId="{0D80C8E2-E009-4216-B50E-9C7555367320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5CDE268-B8AF-4BC9-ADDB-008E7E3725BE}">
      <dsp:nvSpPr>
        <dsp:cNvPr id="0" name=""/>
        <dsp:cNvSpPr/>
      </dsp:nvSpPr>
      <dsp:spPr>
        <a:xfrm>
          <a:off x="5395912" y="2004247"/>
          <a:ext cx="3829357" cy="91121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620965"/>
              </a:lnTo>
              <a:lnTo>
                <a:pt x="3829357" y="620965"/>
              </a:lnTo>
              <a:lnTo>
                <a:pt x="3829357" y="911213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617068F-DE61-46C6-9743-C325149D5A7C}">
      <dsp:nvSpPr>
        <dsp:cNvPr id="0" name=""/>
        <dsp:cNvSpPr/>
      </dsp:nvSpPr>
      <dsp:spPr>
        <a:xfrm>
          <a:off x="5350192" y="2004247"/>
          <a:ext cx="91440" cy="911213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911213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F9E800-C2BA-409D-A3AE-E936FFBC9DD3}">
      <dsp:nvSpPr>
        <dsp:cNvPr id="0" name=""/>
        <dsp:cNvSpPr/>
      </dsp:nvSpPr>
      <dsp:spPr>
        <a:xfrm>
          <a:off x="1566555" y="2004247"/>
          <a:ext cx="3829357" cy="911213"/>
        </a:xfrm>
        <a:custGeom>
          <a:avLst/>
          <a:gdLst/>
          <a:ahLst/>
          <a:cxnLst/>
          <a:rect l="0" t="0" r="0" b="0"/>
          <a:pathLst>
            <a:path>
              <a:moveTo>
                <a:pt x="3829357" y="0"/>
              </a:moveTo>
              <a:lnTo>
                <a:pt x="3829357" y="620965"/>
              </a:lnTo>
              <a:lnTo>
                <a:pt x="0" y="620965"/>
              </a:lnTo>
              <a:lnTo>
                <a:pt x="0" y="911213"/>
              </a:lnTo>
            </a:path>
          </a:pathLst>
        </a:custGeom>
        <a:noFill/>
        <a:ln w="12700" cap="flat" cmpd="sng" algn="ctr">
          <a:solidFill>
            <a:schemeClr val="bg1"/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7223DD5-1385-4CA6-8ACF-4415E3E683CC}">
      <dsp:nvSpPr>
        <dsp:cNvPr id="0" name=""/>
        <dsp:cNvSpPr/>
      </dsp:nvSpPr>
      <dsp:spPr>
        <a:xfrm>
          <a:off x="3829357" y="14722"/>
          <a:ext cx="3133110" cy="19895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73B2484D-9BCF-4A66-8AA4-BEC98073B2D1}">
      <dsp:nvSpPr>
        <dsp:cNvPr id="0" name=""/>
        <dsp:cNvSpPr/>
      </dsp:nvSpPr>
      <dsp:spPr>
        <a:xfrm>
          <a:off x="4177480" y="345439"/>
          <a:ext cx="3133110" cy="198952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kern="1200" dirty="0">
              <a:latin typeface="Arial" panose="020B0604020202020204" pitchFamily="34" charset="0"/>
              <a:cs typeface="Arial" panose="020B0604020202020204" pitchFamily="34" charset="0"/>
            </a:rPr>
            <a:t>Repositories used</a:t>
          </a:r>
        </a:p>
      </dsp:txBody>
      <dsp:txXfrm>
        <a:off x="4235751" y="403710"/>
        <a:ext cx="3016568" cy="1872983"/>
      </dsp:txXfrm>
    </dsp:sp>
    <dsp:sp modelId="{A9C1265F-115B-47EB-9766-E5C4E41091C6}">
      <dsp:nvSpPr>
        <dsp:cNvPr id="0" name=""/>
        <dsp:cNvSpPr/>
      </dsp:nvSpPr>
      <dsp:spPr>
        <a:xfrm>
          <a:off x="0" y="2915460"/>
          <a:ext cx="3133110" cy="19895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964E2C3B-D89B-4733-8DF6-087F8E1D154A}">
      <dsp:nvSpPr>
        <dsp:cNvPr id="0" name=""/>
        <dsp:cNvSpPr/>
      </dsp:nvSpPr>
      <dsp:spPr>
        <a:xfrm>
          <a:off x="348123" y="3246178"/>
          <a:ext cx="3133110" cy="198952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rial" panose="020B0604020202020204" pitchFamily="34" charset="0"/>
              <a:cs typeface="Arial" panose="020B0604020202020204" pitchFamily="34" charset="0"/>
            </a:rPr>
            <a:t>PubMed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rial" panose="020B0604020202020204" pitchFamily="34" charset="0"/>
              <a:cs typeface="Arial" panose="020B0604020202020204" pitchFamily="34" charset="0"/>
            </a:rPr>
            <a:t>(n=116) 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06394" y="3304449"/>
        <a:ext cx="3016568" cy="1872983"/>
      </dsp:txXfrm>
    </dsp:sp>
    <dsp:sp modelId="{1ED9384F-60E5-4921-83D5-24D851089284}">
      <dsp:nvSpPr>
        <dsp:cNvPr id="0" name=""/>
        <dsp:cNvSpPr/>
      </dsp:nvSpPr>
      <dsp:spPr>
        <a:xfrm>
          <a:off x="3829357" y="2915460"/>
          <a:ext cx="3133110" cy="19895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BAED7242-34DC-4D17-A908-0B07B65F9063}">
      <dsp:nvSpPr>
        <dsp:cNvPr id="0" name=""/>
        <dsp:cNvSpPr/>
      </dsp:nvSpPr>
      <dsp:spPr>
        <a:xfrm>
          <a:off x="4177480" y="3246178"/>
          <a:ext cx="3133110" cy="198952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rial" panose="020B0604020202020204" pitchFamily="34" charset="0"/>
              <a:cs typeface="Arial" panose="020B0604020202020204" pitchFamily="34" charset="0"/>
            </a:rPr>
            <a:t>Scopus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rial" panose="020B0604020202020204" pitchFamily="34" charset="0"/>
              <a:cs typeface="Arial" panose="020B0604020202020204" pitchFamily="34" charset="0"/>
            </a:rPr>
            <a:t>(n=285) 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4235751" y="3304449"/>
        <a:ext cx="3016568" cy="1872983"/>
      </dsp:txXfrm>
    </dsp:sp>
    <dsp:sp modelId="{61963523-2761-4BD0-8817-F6B0FED40548}">
      <dsp:nvSpPr>
        <dsp:cNvPr id="0" name=""/>
        <dsp:cNvSpPr/>
      </dsp:nvSpPr>
      <dsp:spPr>
        <a:xfrm>
          <a:off x="7658714" y="2915460"/>
          <a:ext cx="3133110" cy="1989525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lt1">
                <a:hueOff val="0"/>
                <a:satOff val="0"/>
                <a:lumOff val="0"/>
                <a:alphaOff val="0"/>
                <a:satMod val="103000"/>
                <a:lumMod val="102000"/>
                <a:tint val="94000"/>
              </a:schemeClr>
            </a:gs>
            <a:gs pos="50000">
              <a:schemeClr val="lt1">
                <a:hueOff val="0"/>
                <a:satOff val="0"/>
                <a:lumOff val="0"/>
                <a:alphaOff val="0"/>
                <a:satMod val="110000"/>
                <a:lumMod val="100000"/>
                <a:shade val="100000"/>
              </a:schemeClr>
            </a:gs>
            <a:gs pos="100000">
              <a:schemeClr val="lt1">
                <a:hueOff val="0"/>
                <a:satOff val="0"/>
                <a:lumOff val="0"/>
                <a:alphaOff val="0"/>
                <a:lumMod val="99000"/>
                <a:satMod val="120000"/>
                <a:shade val="78000"/>
              </a:schemeClr>
            </a:gs>
          </a:gsLst>
          <a:lin ang="5400000" scaled="0"/>
        </a:gradFill>
        <a:ln>
          <a:noFill/>
        </a:ln>
        <a:effectLst>
          <a:outerShdw blurRad="57150" dist="19050" dir="5400000" algn="ctr" rotWithShape="0">
            <a:srgbClr val="000000">
              <a:alpha val="63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</dsp:sp>
    <dsp:sp modelId="{4983EC64-2036-48ED-92BD-EB304F7FC763}">
      <dsp:nvSpPr>
        <dsp:cNvPr id="0" name=""/>
        <dsp:cNvSpPr/>
      </dsp:nvSpPr>
      <dsp:spPr>
        <a:xfrm>
          <a:off x="8006838" y="3246178"/>
          <a:ext cx="3133110" cy="1989525"/>
        </a:xfrm>
        <a:prstGeom prst="roundRect">
          <a:avLst>
            <a:gd name="adj" fmla="val 10000"/>
          </a:avLst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635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2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rial" panose="020B0604020202020204" pitchFamily="34" charset="0"/>
              <a:cs typeface="Arial" panose="020B0604020202020204" pitchFamily="34" charset="0"/>
            </a:rPr>
            <a:t>Web of Science</a:t>
          </a:r>
        </a:p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>
              <a:latin typeface="Arial" panose="020B0604020202020204" pitchFamily="34" charset="0"/>
              <a:cs typeface="Arial" panose="020B0604020202020204" pitchFamily="34" charset="0"/>
            </a:rPr>
            <a:t>(n=300) </a:t>
          </a:r>
          <a:endParaRPr lang="en-US" sz="2400" kern="1200" dirty="0">
            <a:latin typeface="Arial" panose="020B0604020202020204" pitchFamily="34" charset="0"/>
            <a:cs typeface="Arial" panose="020B0604020202020204" pitchFamily="34" charset="0"/>
          </a:endParaRPr>
        </a:p>
      </dsp:txBody>
      <dsp:txXfrm>
        <a:off x="8065109" y="3304449"/>
        <a:ext cx="3016568" cy="187298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075442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77B84-B930-D1F8-66E4-3DA5F852F3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E4FCC55-3FC9-0E81-F1EA-D9E6D934DA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BE4F30-6E96-098F-A4F8-4315363767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4D14219-BB79-3217-E623-46318ED2228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25533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7A2C6-A1D1-3FF8-047E-F44BCD1E3F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C03C597-AF51-453C-642D-E300E21DB98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4D82331-2789-A25F-EB7D-F08A0E15644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2002AB9-1830-29F1-3530-496CD81AC038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062799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chart" Target="../charts/chart8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326880" y="-1097280"/>
            <a:ext cx="4114800" cy="4114800"/>
          </a:xfrm>
          <a:prstGeom prst="ellipse">
            <a:avLst/>
          </a:prstGeom>
          <a:solidFill>
            <a:srgbClr val="003E74">
              <a:alpha val="20000"/>
            </a:srgbClr>
          </a:solidFill>
          <a:ln w="12700">
            <a:solidFill>
              <a:srgbClr val="003E74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10241280" y="-274320"/>
            <a:ext cx="2560320" cy="2560320"/>
          </a:xfrm>
          <a:prstGeom prst="ellipse">
            <a:avLst/>
          </a:prstGeom>
          <a:solidFill>
            <a:srgbClr val="1ABC9C">
              <a:alpha val="25000"/>
            </a:srgbClr>
          </a:solidFill>
          <a:ln w="12700">
            <a:solidFill>
              <a:srgbClr val="1ABC9C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Shape 3"/>
          <p:cNvSpPr/>
          <p:nvPr/>
        </p:nvSpPr>
        <p:spPr>
          <a:xfrm>
            <a:off x="-731520" y="5303520"/>
            <a:ext cx="3200400" cy="3200400"/>
          </a:xfrm>
          <a:prstGeom prst="ellipse">
            <a:avLst/>
          </a:prstGeom>
          <a:solidFill>
            <a:srgbClr val="132337">
              <a:alpha val="80000"/>
            </a:srgbClr>
          </a:solidFill>
          <a:ln w="12700">
            <a:solidFill>
              <a:srgbClr val="132337">
                <a:alpha val="8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566928" y="1142026"/>
            <a:ext cx="857707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BC9C"/>
                </a:solidFill>
              </a:rPr>
              <a:t>"Assessing Evidence in Translational Chronobiology"  ·  12th June 2023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57200" y="1508760"/>
            <a:ext cx="8686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DST &amp; Road Traffic Accidents</a:t>
            </a:r>
            <a:endParaRPr lang="en-US" sz="4600" dirty="0"/>
          </a:p>
        </p:txBody>
      </p:sp>
      <p:sp>
        <p:nvSpPr>
          <p:cNvPr id="11" name="Text 9"/>
          <p:cNvSpPr/>
          <p:nvPr/>
        </p:nvSpPr>
        <p:spPr>
          <a:xfrm>
            <a:off x="457200" y="2377440"/>
            <a:ext cx="86868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Literature Search Results</a:t>
            </a:r>
            <a:endParaRPr lang="en-US" sz="3200" dirty="0"/>
          </a:p>
        </p:txBody>
      </p:sp>
      <p:sp>
        <p:nvSpPr>
          <p:cNvPr id="12" name="Shape 10"/>
          <p:cNvSpPr/>
          <p:nvPr/>
        </p:nvSpPr>
        <p:spPr>
          <a:xfrm>
            <a:off x="457200" y="3108960"/>
            <a:ext cx="8686800" cy="17373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Shape 11"/>
          <p:cNvSpPr/>
          <p:nvPr/>
        </p:nvSpPr>
        <p:spPr>
          <a:xfrm>
            <a:off x="457200" y="3108960"/>
            <a:ext cx="64008" cy="17373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2"/>
          <p:cNvSpPr/>
          <p:nvPr/>
        </p:nvSpPr>
        <p:spPr>
          <a:xfrm>
            <a:off x="640080" y="320040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BC9C"/>
                </a:solidFill>
              </a:rPr>
              <a:t>RESEARCH QUESTION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40080" y="3520440"/>
            <a:ext cx="832104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healthy individuals have an increased risk of road traffic accidents during the Daylight-Saving Time months (April–October) compared to standard time months (November–March)?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457200" y="5074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Gianluca Giusti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457200" y="544068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7F8C8D"/>
                </a:solidFill>
              </a:rPr>
              <a:t>PhD Student  ·  University of Surrey, UK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144000" y="3108959"/>
            <a:ext cx="1455258" cy="1326853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9144000" y="32461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BC9C"/>
                </a:solidFill>
              </a:rPr>
              <a:t>32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9144000" y="38221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</a:rPr>
              <a:t>Studies Included</a:t>
            </a:r>
            <a:endParaRPr lang="en-US" sz="1600" dirty="0"/>
          </a:p>
        </p:txBody>
      </p:sp>
      <p:sp>
        <p:nvSpPr>
          <p:cNvPr id="21" name="Shape 19"/>
          <p:cNvSpPr/>
          <p:nvPr/>
        </p:nvSpPr>
        <p:spPr>
          <a:xfrm>
            <a:off x="10607040" y="3108959"/>
            <a:ext cx="1455258" cy="1326853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Text 20"/>
          <p:cNvSpPr/>
          <p:nvPr/>
        </p:nvSpPr>
        <p:spPr>
          <a:xfrm>
            <a:off x="10607040" y="32461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BC9C"/>
                </a:solidFill>
              </a:rPr>
              <a:t>1978–2023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607040" y="38221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</a:rPr>
              <a:t>Publication Range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9144000" y="4480559"/>
            <a:ext cx="1455258" cy="1326853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5" name="Text 23"/>
          <p:cNvSpPr/>
          <p:nvPr/>
        </p:nvSpPr>
        <p:spPr>
          <a:xfrm>
            <a:off x="9144000" y="46177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BC9C"/>
                </a:solidFill>
              </a:rPr>
              <a:t>3 DBs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9144000" y="51937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</a:rPr>
              <a:t>PubMed · Scopus · WoS</a:t>
            </a:r>
            <a:endParaRPr lang="en-US" sz="1600" dirty="0"/>
          </a:p>
        </p:txBody>
      </p:sp>
      <p:sp>
        <p:nvSpPr>
          <p:cNvPr id="27" name="Shape 25"/>
          <p:cNvSpPr/>
          <p:nvPr/>
        </p:nvSpPr>
        <p:spPr>
          <a:xfrm>
            <a:off x="10607040" y="4480559"/>
            <a:ext cx="1455258" cy="1326853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607040" y="461772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ABC9C"/>
                </a:solidFill>
              </a:rPr>
              <a:t>701</a:t>
            </a:r>
            <a:endParaRPr lang="en-US" sz="2000" dirty="0"/>
          </a:p>
        </p:txBody>
      </p:sp>
      <p:sp>
        <p:nvSpPr>
          <p:cNvPr id="29" name="Text 27"/>
          <p:cNvSpPr/>
          <p:nvPr/>
        </p:nvSpPr>
        <p:spPr>
          <a:xfrm>
            <a:off x="10607040" y="5193792"/>
            <a:ext cx="1325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7F8C8D"/>
                </a:solidFill>
              </a:rPr>
              <a:t>Records Identified</a:t>
            </a:r>
            <a:endParaRPr lang="en-US" sz="1600" dirty="0"/>
          </a:p>
        </p:txBody>
      </p:sp>
      <p:grpSp>
        <p:nvGrpSpPr>
          <p:cNvPr id="30" name="Google Shape;155;p29">
            <a:extLst>
              <a:ext uri="{FF2B5EF4-FFF2-40B4-BE49-F238E27FC236}">
                <a16:creationId xmlns:a16="http://schemas.microsoft.com/office/drawing/2014/main" id="{2DD16E45-2DB7-646F-9427-2B00439F1861}"/>
              </a:ext>
            </a:extLst>
          </p:cNvPr>
          <p:cNvGrpSpPr>
            <a:grpSpLocks noChangeAspect="1"/>
          </p:cNvGrpSpPr>
          <p:nvPr/>
        </p:nvGrpSpPr>
        <p:grpSpPr>
          <a:xfrm>
            <a:off x="724539" y="5985025"/>
            <a:ext cx="10939901" cy="711496"/>
            <a:chOff x="208706" y="294909"/>
            <a:chExt cx="11774588" cy="765782"/>
          </a:xfrm>
        </p:grpSpPr>
        <p:pic>
          <p:nvPicPr>
            <p:cNvPr id="31" name="Google Shape;156;p29" descr="A black and white logo&#10;&#10;Description automatically generated">
              <a:extLst>
                <a:ext uri="{FF2B5EF4-FFF2-40B4-BE49-F238E27FC236}">
                  <a16:creationId xmlns:a16="http://schemas.microsoft.com/office/drawing/2014/main" id="{8342F590-B0C4-40C3-F0C5-54DE587018C9}"/>
                </a:ext>
              </a:extLst>
            </p:cNvPr>
            <p:cNvPicPr preferRelativeResize="0"/>
            <p:nvPr/>
          </p:nvPicPr>
          <p:blipFill rotWithShape="1">
            <a:blip r:embed="rId3">
              <a:alphaModFix/>
            </a:blip>
            <a:srcRect/>
            <a:stretch/>
          </p:blipFill>
          <p:spPr>
            <a:xfrm>
              <a:off x="208706" y="398997"/>
              <a:ext cx="2357811" cy="557607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32" name="Google Shape;157;p29">
              <a:extLst>
                <a:ext uri="{FF2B5EF4-FFF2-40B4-BE49-F238E27FC236}">
                  <a16:creationId xmlns:a16="http://schemas.microsoft.com/office/drawing/2014/main" id="{1BD90E76-FC62-D2C2-96F2-33C35FD30697}"/>
                </a:ext>
              </a:extLst>
            </p:cNvPr>
            <p:cNvPicPr preferRelativeResize="0"/>
            <p:nvPr/>
          </p:nvPicPr>
          <p:blipFill rotWithShape="1">
            <a:blip r:embed="rId4">
              <a:alphaModFix/>
            </a:blip>
            <a:srcRect/>
            <a:stretch/>
          </p:blipFill>
          <p:spPr>
            <a:xfrm>
              <a:off x="5530987" y="317450"/>
              <a:ext cx="1743919" cy="720701"/>
            </a:xfrm>
            <a:prstGeom prst="rect">
              <a:avLst/>
            </a:prstGeom>
            <a:solidFill>
              <a:schemeClr val="lt1">
                <a:alpha val="0"/>
              </a:schemeClr>
            </a:solidFill>
            <a:ln>
              <a:noFill/>
            </a:ln>
            <a:effectLst>
              <a:outerShdw blurRad="76200" sy="23000" kx="1200000" algn="br" rotWithShape="0">
                <a:srgbClr val="000000">
                  <a:alpha val="20000"/>
                </a:srgbClr>
              </a:outerShdw>
            </a:effectLst>
          </p:spPr>
        </p:pic>
        <p:pic>
          <p:nvPicPr>
            <p:cNvPr id="33" name="Google Shape;158;p29" descr="A red circle with a couple of people in it&#10;&#10;Description automatically generated">
              <a:extLst>
                <a:ext uri="{FF2B5EF4-FFF2-40B4-BE49-F238E27FC236}">
                  <a16:creationId xmlns:a16="http://schemas.microsoft.com/office/drawing/2014/main" id="{66287AB6-D1F7-58B7-489C-3916A7B701FF}"/>
                </a:ext>
              </a:extLst>
            </p:cNvPr>
            <p:cNvPicPr preferRelativeResize="0"/>
            <p:nvPr/>
          </p:nvPicPr>
          <p:blipFill rotWithShape="1">
            <a:blip r:embed="rId5">
              <a:alphaModFix/>
            </a:blip>
            <a:srcRect l="35097"/>
            <a:stretch/>
          </p:blipFill>
          <p:spPr>
            <a:xfrm>
              <a:off x="10239375" y="294909"/>
              <a:ext cx="1743919" cy="765782"/>
            </a:xfrm>
            <a:prstGeom prst="rect">
              <a:avLst/>
            </a:prstGeom>
            <a:gradFill>
              <a:gsLst>
                <a:gs pos="0">
                  <a:srgbClr val="0E3754">
                    <a:alpha val="18823"/>
                  </a:srgbClr>
                </a:gs>
                <a:gs pos="46000">
                  <a:srgbClr val="3FB2D0">
                    <a:alpha val="0"/>
                  </a:srgbClr>
                </a:gs>
                <a:gs pos="100000">
                  <a:srgbClr val="15537E">
                    <a:alpha val="1960"/>
                  </a:srgbClr>
                </a:gs>
              </a:gsLst>
              <a:path path="circle">
                <a:fillToRect t="100000" r="100000"/>
              </a:path>
              <a:tileRect l="-100000" b="-100000"/>
            </a:gradFill>
            <a:ln>
              <a:noFill/>
            </a:ln>
            <a:effectLst>
              <a:outerShdw blurRad="50800" dist="50800" dir="5400000" algn="ctr" rotWithShape="0">
                <a:srgbClr val="000000"/>
              </a:outerShdw>
            </a:effectLst>
          </p:spPr>
        </p:pic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2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7CC164C-F7F6-98FF-BB30-5A4E555882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0C475BF0-DAF3-9112-32BD-7C98ABB8E2D2}"/>
              </a:ext>
            </a:extLst>
          </p:cNvPr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25B5F7F-5537-E23F-E3D0-52F334B89B54}"/>
              </a:ext>
            </a:extLst>
          </p:cNvPr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7AA32AD5-EC4A-FA4E-7AEC-942B1FAEBE78}"/>
              </a:ext>
            </a:extLst>
          </p:cNvPr>
          <p:cNvSpPr/>
          <p:nvPr/>
        </p:nvSpPr>
        <p:spPr>
          <a:xfrm>
            <a:off x="36576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AE2A7D04-5790-6D41-4CAB-9547D06AA729}"/>
              </a:ext>
            </a:extLst>
          </p:cNvPr>
          <p:cNvSpPr/>
          <p:nvPr/>
        </p:nvSpPr>
        <p:spPr>
          <a:xfrm>
            <a:off x="8686800" y="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F8C8D"/>
                </a:solidFill>
              </a:rPr>
              <a:t>PICO Framework &amp; Search Strategy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1F44C30F-1733-6087-22C0-FDEE44FC6CBF}"/>
              </a:ext>
            </a:extLst>
          </p:cNvPr>
          <p:cNvSpPr/>
          <p:nvPr/>
        </p:nvSpPr>
        <p:spPr>
          <a:xfrm>
            <a:off x="274320" y="822960"/>
            <a:ext cx="5669280" cy="5760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64AC86C1-78AB-1AFD-62C2-DA24C65ECE20}"/>
              </a:ext>
            </a:extLst>
          </p:cNvPr>
          <p:cNvSpPr/>
          <p:nvPr/>
        </p:nvSpPr>
        <p:spPr>
          <a:xfrm>
            <a:off x="274320" y="822960"/>
            <a:ext cx="64008" cy="5760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3361404B-275F-B7E8-25D3-B9111B0FCC58}"/>
              </a:ext>
            </a:extLst>
          </p:cNvPr>
          <p:cNvSpPr/>
          <p:nvPr/>
        </p:nvSpPr>
        <p:spPr>
          <a:xfrm>
            <a:off x="502920" y="914400"/>
            <a:ext cx="5303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P.I.C.O. Framework</a:t>
            </a:r>
            <a:endParaRPr lang="en-US" sz="2400" dirty="0"/>
          </a:p>
        </p:txBody>
      </p:sp>
      <p:sp>
        <p:nvSpPr>
          <p:cNvPr id="9" name="Shape 7">
            <a:extLst>
              <a:ext uri="{FF2B5EF4-FFF2-40B4-BE49-F238E27FC236}">
                <a16:creationId xmlns:a16="http://schemas.microsoft.com/office/drawing/2014/main" id="{57AE918B-BD60-2DE4-6037-5EC26D6A9020}"/>
              </a:ext>
            </a:extLst>
          </p:cNvPr>
          <p:cNvSpPr/>
          <p:nvPr/>
        </p:nvSpPr>
        <p:spPr>
          <a:xfrm>
            <a:off x="502920" y="1481328"/>
            <a:ext cx="502920" cy="502920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0" name="Text 8">
            <a:extLst>
              <a:ext uri="{FF2B5EF4-FFF2-40B4-BE49-F238E27FC236}">
                <a16:creationId xmlns:a16="http://schemas.microsoft.com/office/drawing/2014/main" id="{6B45BFA3-16E0-90E1-CF1B-6559AE771551}"/>
              </a:ext>
            </a:extLst>
          </p:cNvPr>
          <p:cNvSpPr/>
          <p:nvPr/>
        </p:nvSpPr>
        <p:spPr>
          <a:xfrm>
            <a:off x="502920" y="1481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P</a:t>
            </a:r>
            <a:endParaRPr lang="en-US" sz="2800" dirty="0"/>
          </a:p>
        </p:txBody>
      </p:sp>
      <p:sp>
        <p:nvSpPr>
          <p:cNvPr id="11" name="Text 9">
            <a:extLst>
              <a:ext uri="{FF2B5EF4-FFF2-40B4-BE49-F238E27FC236}">
                <a16:creationId xmlns:a16="http://schemas.microsoft.com/office/drawing/2014/main" id="{581D3AD1-A6ED-CD90-909F-BF32E102E84C}"/>
              </a:ext>
            </a:extLst>
          </p:cNvPr>
          <p:cNvSpPr/>
          <p:nvPr/>
        </p:nvSpPr>
        <p:spPr>
          <a:xfrm>
            <a:off x="1143000" y="1389888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980B9"/>
                </a:solidFill>
              </a:rPr>
              <a:t>Population</a:t>
            </a:r>
            <a:endParaRPr lang="en-US" sz="2000" dirty="0"/>
          </a:p>
        </p:txBody>
      </p:sp>
      <p:sp>
        <p:nvSpPr>
          <p:cNvPr id="12" name="Text 10">
            <a:extLst>
              <a:ext uri="{FF2B5EF4-FFF2-40B4-BE49-F238E27FC236}">
                <a16:creationId xmlns:a16="http://schemas.microsoft.com/office/drawing/2014/main" id="{870C38D1-6CF4-3649-3DE3-C44EEC191787}"/>
              </a:ext>
            </a:extLst>
          </p:cNvPr>
          <p:cNvSpPr/>
          <p:nvPr/>
        </p:nvSpPr>
        <p:spPr>
          <a:xfrm>
            <a:off x="1143000" y="1773936"/>
            <a:ext cx="4800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</a:rPr>
              <a:t>Healthy individuals (general public road users)</a:t>
            </a:r>
            <a:endParaRPr lang="en-US" sz="2000" dirty="0"/>
          </a:p>
        </p:txBody>
      </p:sp>
      <p:sp>
        <p:nvSpPr>
          <p:cNvPr id="13" name="Shape 11">
            <a:extLst>
              <a:ext uri="{FF2B5EF4-FFF2-40B4-BE49-F238E27FC236}">
                <a16:creationId xmlns:a16="http://schemas.microsoft.com/office/drawing/2014/main" id="{9D45CB82-5F6F-223E-FB4C-9E10128C3327}"/>
              </a:ext>
            </a:extLst>
          </p:cNvPr>
          <p:cNvSpPr/>
          <p:nvPr/>
        </p:nvSpPr>
        <p:spPr>
          <a:xfrm>
            <a:off x="502920" y="2779776"/>
            <a:ext cx="502920" cy="502920"/>
          </a:xfrm>
          <a:prstGeom prst="ellipse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4" name="Text 12">
            <a:extLst>
              <a:ext uri="{FF2B5EF4-FFF2-40B4-BE49-F238E27FC236}">
                <a16:creationId xmlns:a16="http://schemas.microsoft.com/office/drawing/2014/main" id="{60922C27-1436-90E7-84FF-CAF22736DE04}"/>
              </a:ext>
            </a:extLst>
          </p:cNvPr>
          <p:cNvSpPr/>
          <p:nvPr/>
        </p:nvSpPr>
        <p:spPr>
          <a:xfrm>
            <a:off x="502920" y="277977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I</a:t>
            </a:r>
            <a:endParaRPr lang="en-US" sz="2800" dirty="0"/>
          </a:p>
        </p:txBody>
      </p:sp>
      <p:sp>
        <p:nvSpPr>
          <p:cNvPr id="15" name="Text 13">
            <a:extLst>
              <a:ext uri="{FF2B5EF4-FFF2-40B4-BE49-F238E27FC236}">
                <a16:creationId xmlns:a16="http://schemas.microsoft.com/office/drawing/2014/main" id="{F9FD1EAB-219D-9891-F52B-5B496FC9042F}"/>
              </a:ext>
            </a:extLst>
          </p:cNvPr>
          <p:cNvSpPr/>
          <p:nvPr/>
        </p:nvSpPr>
        <p:spPr>
          <a:xfrm>
            <a:off x="1143000" y="2688336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ABC9C"/>
                </a:solidFill>
              </a:rPr>
              <a:t>Intervention / Exposure</a:t>
            </a:r>
            <a:endParaRPr lang="en-US" sz="2000" dirty="0"/>
          </a:p>
        </p:txBody>
      </p:sp>
      <p:sp>
        <p:nvSpPr>
          <p:cNvPr id="16" name="Text 14">
            <a:extLst>
              <a:ext uri="{FF2B5EF4-FFF2-40B4-BE49-F238E27FC236}">
                <a16:creationId xmlns:a16="http://schemas.microsoft.com/office/drawing/2014/main" id="{FD6914D9-05C6-4A02-CFBD-8463C6595067}"/>
              </a:ext>
            </a:extLst>
          </p:cNvPr>
          <p:cNvSpPr/>
          <p:nvPr/>
        </p:nvSpPr>
        <p:spPr>
          <a:xfrm>
            <a:off x="1143000" y="3072384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</a:rPr>
              <a:t>Daylight Saving Time (DST transition)</a:t>
            </a:r>
            <a:endParaRPr lang="en-US" sz="2000" dirty="0"/>
          </a:p>
        </p:txBody>
      </p:sp>
      <p:sp>
        <p:nvSpPr>
          <p:cNvPr id="17" name="Shape 15">
            <a:extLst>
              <a:ext uri="{FF2B5EF4-FFF2-40B4-BE49-F238E27FC236}">
                <a16:creationId xmlns:a16="http://schemas.microsoft.com/office/drawing/2014/main" id="{A02055B0-B7ED-860D-DF8B-F8B433CE53D1}"/>
              </a:ext>
            </a:extLst>
          </p:cNvPr>
          <p:cNvSpPr/>
          <p:nvPr/>
        </p:nvSpPr>
        <p:spPr>
          <a:xfrm>
            <a:off x="502920" y="4078224"/>
            <a:ext cx="502920" cy="502920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" name="Text 16">
            <a:extLst>
              <a:ext uri="{FF2B5EF4-FFF2-40B4-BE49-F238E27FC236}">
                <a16:creationId xmlns:a16="http://schemas.microsoft.com/office/drawing/2014/main" id="{8A14B1A7-2379-E4A4-6381-C3F14C1D3996}"/>
              </a:ext>
            </a:extLst>
          </p:cNvPr>
          <p:cNvSpPr/>
          <p:nvPr/>
        </p:nvSpPr>
        <p:spPr>
          <a:xfrm>
            <a:off x="502920" y="4078224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C</a:t>
            </a:r>
            <a:endParaRPr lang="en-US" sz="2800" dirty="0"/>
          </a:p>
        </p:txBody>
      </p:sp>
      <p:sp>
        <p:nvSpPr>
          <p:cNvPr id="19" name="Text 17">
            <a:extLst>
              <a:ext uri="{FF2B5EF4-FFF2-40B4-BE49-F238E27FC236}">
                <a16:creationId xmlns:a16="http://schemas.microsoft.com/office/drawing/2014/main" id="{CAE5D098-5DA7-7C85-3F4B-4D5C0D6C66DA}"/>
              </a:ext>
            </a:extLst>
          </p:cNvPr>
          <p:cNvSpPr/>
          <p:nvPr/>
        </p:nvSpPr>
        <p:spPr>
          <a:xfrm>
            <a:off x="1143000" y="3986784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39C12"/>
                </a:solidFill>
              </a:rPr>
              <a:t>Comparison / Control</a:t>
            </a:r>
            <a:endParaRPr lang="en-US" sz="2000" dirty="0"/>
          </a:p>
        </p:txBody>
      </p:sp>
      <p:sp>
        <p:nvSpPr>
          <p:cNvPr id="20" name="Text 18">
            <a:extLst>
              <a:ext uri="{FF2B5EF4-FFF2-40B4-BE49-F238E27FC236}">
                <a16:creationId xmlns:a16="http://schemas.microsoft.com/office/drawing/2014/main" id="{A495B067-D333-6D2E-9F72-C99272511443}"/>
              </a:ext>
            </a:extLst>
          </p:cNvPr>
          <p:cNvSpPr/>
          <p:nvPr/>
        </p:nvSpPr>
        <p:spPr>
          <a:xfrm>
            <a:off x="1143000" y="4370832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</a:rPr>
              <a:t>Standard Time (no DST)</a:t>
            </a:r>
            <a:endParaRPr lang="en-US" sz="2000" dirty="0"/>
          </a:p>
        </p:txBody>
      </p:sp>
      <p:sp>
        <p:nvSpPr>
          <p:cNvPr id="21" name="Shape 19">
            <a:extLst>
              <a:ext uri="{FF2B5EF4-FFF2-40B4-BE49-F238E27FC236}">
                <a16:creationId xmlns:a16="http://schemas.microsoft.com/office/drawing/2014/main" id="{7F331269-73B8-72DA-6D20-858CEDB6028D}"/>
              </a:ext>
            </a:extLst>
          </p:cNvPr>
          <p:cNvSpPr/>
          <p:nvPr/>
        </p:nvSpPr>
        <p:spPr>
          <a:xfrm>
            <a:off x="502920" y="5376672"/>
            <a:ext cx="502920" cy="502920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22" name="Text 20">
            <a:extLst>
              <a:ext uri="{FF2B5EF4-FFF2-40B4-BE49-F238E27FC236}">
                <a16:creationId xmlns:a16="http://schemas.microsoft.com/office/drawing/2014/main" id="{06A4BA7E-01B5-EDD3-C509-FBBDDFE0D8FF}"/>
              </a:ext>
            </a:extLst>
          </p:cNvPr>
          <p:cNvSpPr/>
          <p:nvPr/>
        </p:nvSpPr>
        <p:spPr>
          <a:xfrm>
            <a:off x="502920" y="537667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FFFFFF"/>
                </a:solidFill>
              </a:rPr>
              <a:t>O</a:t>
            </a:r>
            <a:endParaRPr lang="en-US" sz="2800" dirty="0"/>
          </a:p>
        </p:txBody>
      </p:sp>
      <p:sp>
        <p:nvSpPr>
          <p:cNvPr id="23" name="Text 21">
            <a:extLst>
              <a:ext uri="{FF2B5EF4-FFF2-40B4-BE49-F238E27FC236}">
                <a16:creationId xmlns:a16="http://schemas.microsoft.com/office/drawing/2014/main" id="{2E72C26A-176B-11C3-4EB3-2D5AF3695B8C}"/>
              </a:ext>
            </a:extLst>
          </p:cNvPr>
          <p:cNvSpPr/>
          <p:nvPr/>
        </p:nvSpPr>
        <p:spPr>
          <a:xfrm>
            <a:off x="1143000" y="5285232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74C3C"/>
                </a:solidFill>
              </a:rPr>
              <a:t>Outcome</a:t>
            </a:r>
            <a:endParaRPr lang="en-US" sz="2000" dirty="0"/>
          </a:p>
        </p:txBody>
      </p:sp>
      <p:sp>
        <p:nvSpPr>
          <p:cNvPr id="24" name="Text 22">
            <a:extLst>
              <a:ext uri="{FF2B5EF4-FFF2-40B4-BE49-F238E27FC236}">
                <a16:creationId xmlns:a16="http://schemas.microsoft.com/office/drawing/2014/main" id="{F5EB58A9-45CC-23C3-CDB9-689CB3F42F6E}"/>
              </a:ext>
            </a:extLst>
          </p:cNvPr>
          <p:cNvSpPr/>
          <p:nvPr/>
        </p:nvSpPr>
        <p:spPr>
          <a:xfrm>
            <a:off x="1143000" y="5669280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</a:rPr>
              <a:t>Frequency of road traffic collisions, injuries &amp; fatalities</a:t>
            </a:r>
            <a:endParaRPr lang="en-US" sz="2000" dirty="0"/>
          </a:p>
        </p:txBody>
      </p:sp>
      <p:sp>
        <p:nvSpPr>
          <p:cNvPr id="25" name="Shape 23">
            <a:extLst>
              <a:ext uri="{FF2B5EF4-FFF2-40B4-BE49-F238E27FC236}">
                <a16:creationId xmlns:a16="http://schemas.microsoft.com/office/drawing/2014/main" id="{725534C4-49FB-CE85-B7C7-0EE77F34647C}"/>
              </a:ext>
            </a:extLst>
          </p:cNvPr>
          <p:cNvSpPr/>
          <p:nvPr/>
        </p:nvSpPr>
        <p:spPr>
          <a:xfrm>
            <a:off x="6217920" y="822960"/>
            <a:ext cx="5669280" cy="260604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4">
            <a:extLst>
              <a:ext uri="{FF2B5EF4-FFF2-40B4-BE49-F238E27FC236}">
                <a16:creationId xmlns:a16="http://schemas.microsoft.com/office/drawing/2014/main" id="{54B4D21C-1295-CC85-279C-1893785E2425}"/>
              </a:ext>
            </a:extLst>
          </p:cNvPr>
          <p:cNvSpPr/>
          <p:nvPr/>
        </p:nvSpPr>
        <p:spPr>
          <a:xfrm>
            <a:off x="6217920" y="822960"/>
            <a:ext cx="64008" cy="260604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5">
            <a:extLst>
              <a:ext uri="{FF2B5EF4-FFF2-40B4-BE49-F238E27FC236}">
                <a16:creationId xmlns:a16="http://schemas.microsoft.com/office/drawing/2014/main" id="{FE3AA980-56F7-0A81-8286-9FD8B9CB2915}"/>
              </a:ext>
            </a:extLst>
          </p:cNvPr>
          <p:cNvSpPr/>
          <p:nvPr/>
        </p:nvSpPr>
        <p:spPr>
          <a:xfrm>
            <a:off x="6446520" y="914400"/>
            <a:ext cx="53035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Search Strategy</a:t>
            </a:r>
            <a:endParaRPr lang="en-US" sz="1900" dirty="0"/>
          </a:p>
        </p:txBody>
      </p:sp>
      <p:sp>
        <p:nvSpPr>
          <p:cNvPr id="28" name="Text 26">
            <a:extLst>
              <a:ext uri="{FF2B5EF4-FFF2-40B4-BE49-F238E27FC236}">
                <a16:creationId xmlns:a16="http://schemas.microsoft.com/office/drawing/2014/main" id="{6268D34F-3128-5EB7-3DDF-61E3266C84C5}"/>
              </a:ext>
            </a:extLst>
          </p:cNvPr>
          <p:cNvSpPr/>
          <p:nvPr/>
        </p:nvSpPr>
        <p:spPr>
          <a:xfrm>
            <a:off x="6446520" y="133268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>
                    <a:lumMod val="85000"/>
                  </a:schemeClr>
                </a:solidFill>
              </a:rPr>
              <a:t>Boolean Query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29" name="Shape 27">
            <a:extLst>
              <a:ext uri="{FF2B5EF4-FFF2-40B4-BE49-F238E27FC236}">
                <a16:creationId xmlns:a16="http://schemas.microsoft.com/office/drawing/2014/main" id="{F91EDB3E-02AB-AAB6-3D61-ADDB1A05305B}"/>
              </a:ext>
            </a:extLst>
          </p:cNvPr>
          <p:cNvSpPr/>
          <p:nvPr/>
        </p:nvSpPr>
        <p:spPr>
          <a:xfrm>
            <a:off x="6400800" y="1719072"/>
            <a:ext cx="5303520" cy="106070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30" name="Text 28">
            <a:extLst>
              <a:ext uri="{FF2B5EF4-FFF2-40B4-BE49-F238E27FC236}">
                <a16:creationId xmlns:a16="http://schemas.microsoft.com/office/drawing/2014/main" id="{2700F0C5-557E-A48A-5F39-06AEA53F13C6}"/>
              </a:ext>
            </a:extLst>
          </p:cNvPr>
          <p:cNvSpPr/>
          <p:nvPr/>
        </p:nvSpPr>
        <p:spPr>
          <a:xfrm>
            <a:off x="6400800" y="1874520"/>
            <a:ext cx="5212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(['daylight saving time' OR DST OR 'time change']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  <a:p>
            <a:pPr marL="0" indent="0">
              <a:buNone/>
            </a:pPr>
            <a:r>
              <a:rPr lang="en-US" sz="1600" i="1" dirty="0">
                <a:solidFill>
                  <a:schemeClr val="bg1">
                    <a:lumMod val="85000"/>
                  </a:schemeClr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AND ['road safety' OR 'road traffic' OR crash OR accident])</a:t>
            </a:r>
            <a:endParaRPr lang="en-US" sz="1600" dirty="0">
              <a:solidFill>
                <a:schemeClr val="bg1">
                  <a:lumMod val="85000"/>
                </a:schemeClr>
              </a:solidFill>
            </a:endParaRPr>
          </a:p>
        </p:txBody>
      </p:sp>
      <p:sp>
        <p:nvSpPr>
          <p:cNvPr id="31" name="Text 29">
            <a:extLst>
              <a:ext uri="{FF2B5EF4-FFF2-40B4-BE49-F238E27FC236}">
                <a16:creationId xmlns:a16="http://schemas.microsoft.com/office/drawing/2014/main" id="{6E78A775-1AF9-ABC1-EE57-A7CC32B42348}"/>
              </a:ext>
            </a:extLst>
          </p:cNvPr>
          <p:cNvSpPr/>
          <p:nvPr/>
        </p:nvSpPr>
        <p:spPr>
          <a:xfrm>
            <a:off x="6432804" y="3035808"/>
            <a:ext cx="5303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chemeClr val="bg1"/>
                </a:solidFill>
              </a:rPr>
              <a:t>No filters or limitations applied  ·  Last search: 11 May 2023</a:t>
            </a:r>
          </a:p>
        </p:txBody>
      </p:sp>
      <p:sp>
        <p:nvSpPr>
          <p:cNvPr id="45" name="Shape 43">
            <a:extLst>
              <a:ext uri="{FF2B5EF4-FFF2-40B4-BE49-F238E27FC236}">
                <a16:creationId xmlns:a16="http://schemas.microsoft.com/office/drawing/2014/main" id="{EB170A8C-F43D-66B2-DFCD-E054C1E98787}"/>
              </a:ext>
            </a:extLst>
          </p:cNvPr>
          <p:cNvSpPr/>
          <p:nvPr/>
        </p:nvSpPr>
        <p:spPr>
          <a:xfrm>
            <a:off x="6217920" y="3996123"/>
            <a:ext cx="5669280" cy="18288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46" name="Shape 44">
            <a:extLst>
              <a:ext uri="{FF2B5EF4-FFF2-40B4-BE49-F238E27FC236}">
                <a16:creationId xmlns:a16="http://schemas.microsoft.com/office/drawing/2014/main" id="{A9834123-2F34-E4C0-8B9F-C77D6E69E77A}"/>
              </a:ext>
            </a:extLst>
          </p:cNvPr>
          <p:cNvSpPr/>
          <p:nvPr/>
        </p:nvSpPr>
        <p:spPr>
          <a:xfrm>
            <a:off x="6217920" y="3996123"/>
            <a:ext cx="64008" cy="182880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7" name="Text 45">
            <a:extLst>
              <a:ext uri="{FF2B5EF4-FFF2-40B4-BE49-F238E27FC236}">
                <a16:creationId xmlns:a16="http://schemas.microsoft.com/office/drawing/2014/main" id="{0F1C7FE2-47DB-EDD1-49F8-929B0E22E0FB}"/>
              </a:ext>
            </a:extLst>
          </p:cNvPr>
          <p:cNvSpPr/>
          <p:nvPr/>
        </p:nvSpPr>
        <p:spPr>
          <a:xfrm>
            <a:off x="6446520" y="4087563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27AE60"/>
                </a:solidFill>
              </a:rPr>
              <a:t>✓  Inclusion Criteria</a:t>
            </a:r>
            <a:endParaRPr lang="en-US" sz="1700" dirty="0"/>
          </a:p>
        </p:txBody>
      </p:sp>
      <p:sp>
        <p:nvSpPr>
          <p:cNvPr id="48" name="Text 46">
            <a:extLst>
              <a:ext uri="{FF2B5EF4-FFF2-40B4-BE49-F238E27FC236}">
                <a16:creationId xmlns:a16="http://schemas.microsoft.com/office/drawing/2014/main" id="{A1461294-38E1-7348-AD09-CF7827EA40F1}"/>
              </a:ext>
            </a:extLst>
          </p:cNvPr>
          <p:cNvSpPr/>
          <p:nvPr/>
        </p:nvSpPr>
        <p:spPr>
          <a:xfrm>
            <a:off x="6492240" y="4544763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·  Studies on DST effects on road safety outcomes</a:t>
            </a:r>
            <a:endParaRPr lang="en-US" sz="1600" dirty="0"/>
          </a:p>
        </p:txBody>
      </p:sp>
      <p:sp>
        <p:nvSpPr>
          <p:cNvPr id="49" name="Text 47">
            <a:extLst>
              <a:ext uri="{FF2B5EF4-FFF2-40B4-BE49-F238E27FC236}">
                <a16:creationId xmlns:a16="http://schemas.microsoft.com/office/drawing/2014/main" id="{5F7C2750-16BE-4934-EB38-3D77EFE31377}"/>
              </a:ext>
            </a:extLst>
          </p:cNvPr>
          <p:cNvSpPr/>
          <p:nvPr/>
        </p:nvSpPr>
        <p:spPr>
          <a:xfrm>
            <a:off x="6492240" y="4928811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·  All types of healthy road users</a:t>
            </a:r>
            <a:endParaRPr lang="en-US" sz="1600" dirty="0"/>
          </a:p>
        </p:txBody>
      </p:sp>
      <p:sp>
        <p:nvSpPr>
          <p:cNvPr id="50" name="Text 48">
            <a:extLst>
              <a:ext uri="{FF2B5EF4-FFF2-40B4-BE49-F238E27FC236}">
                <a16:creationId xmlns:a16="http://schemas.microsoft.com/office/drawing/2014/main" id="{0BED4F03-3BF1-317D-7A33-798D95A396C9}"/>
              </a:ext>
            </a:extLst>
          </p:cNvPr>
          <p:cNvSpPr/>
          <p:nvPr/>
        </p:nvSpPr>
        <p:spPr>
          <a:xfrm>
            <a:off x="6492240" y="5312859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·  Published in English  ·  Reporting original data</a:t>
            </a:r>
            <a:endParaRPr lang="en-US" sz="1600" dirty="0"/>
          </a:p>
        </p:txBody>
      </p:sp>
      <p:sp>
        <p:nvSpPr>
          <p:cNvPr id="51" name="Shape 49">
            <a:extLst>
              <a:ext uri="{FF2B5EF4-FFF2-40B4-BE49-F238E27FC236}">
                <a16:creationId xmlns:a16="http://schemas.microsoft.com/office/drawing/2014/main" id="{CAA97B0E-2875-CADD-9E92-963847058D5D}"/>
              </a:ext>
            </a:extLst>
          </p:cNvPr>
          <p:cNvSpPr/>
          <p:nvPr/>
        </p:nvSpPr>
        <p:spPr>
          <a:xfrm>
            <a:off x="274320" y="6656832"/>
            <a:ext cx="5669280" cy="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</p:spTree>
    <p:extLst>
      <p:ext uri="{BB962C8B-B14F-4D97-AF65-F5344CB8AC3E}">
        <p14:creationId xmlns:p14="http://schemas.microsoft.com/office/powerpoint/2010/main" val="30785173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F8C8D"/>
                </a:solidFill>
              </a:rPr>
              <a:t>PICO Framework &amp; Search Strategy</a:t>
            </a:r>
            <a:endParaRPr lang="en-US" sz="1600" dirty="0"/>
          </a:p>
        </p:txBody>
      </p:sp>
      <p:graphicFrame>
        <p:nvGraphicFramePr>
          <p:cNvPr id="56" name="TextBox 2">
            <a:extLst>
              <a:ext uri="{FF2B5EF4-FFF2-40B4-BE49-F238E27FC236}">
                <a16:creationId xmlns:a16="http://schemas.microsoft.com/office/drawing/2014/main" id="{EF27828D-A3CF-80EA-940C-74C8B66B0C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91537913"/>
              </p:ext>
            </p:extLst>
          </p:nvPr>
        </p:nvGraphicFramePr>
        <p:xfrm>
          <a:off x="747251" y="841137"/>
          <a:ext cx="11139949" cy="52504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7" name="Text 2">
            <a:extLst>
              <a:ext uri="{FF2B5EF4-FFF2-40B4-BE49-F238E27FC236}">
                <a16:creationId xmlns:a16="http://schemas.microsoft.com/office/drawing/2014/main" id="{74B42906-D952-C050-C173-BE59FADD3D4D}"/>
              </a:ext>
            </a:extLst>
          </p:cNvPr>
          <p:cNvSpPr/>
          <p:nvPr/>
        </p:nvSpPr>
        <p:spPr>
          <a:xfrm>
            <a:off x="518160" y="15240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Shape 20"/>
          <p:cNvSpPr/>
          <p:nvPr/>
        </p:nvSpPr>
        <p:spPr>
          <a:xfrm flipH="1">
            <a:off x="3749040" y="2799232"/>
            <a:ext cx="2194558" cy="22860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PRISMA Flow &amp; Study Overview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F8C8D"/>
                </a:solidFill>
              </a:rPr>
              <a:t>Screening &amp; Characteristics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3657600" y="914400"/>
            <a:ext cx="4572000" cy="822960"/>
          </a:xfrm>
          <a:prstGeom prst="rect">
            <a:avLst/>
          </a:prstGeom>
          <a:solidFill>
            <a:srgbClr val="003E74">
              <a:alpha val="85000"/>
            </a:srgbClr>
          </a:solidFill>
          <a:ln w="12700">
            <a:solidFill>
              <a:srgbClr val="003E7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Text 5"/>
          <p:cNvSpPr/>
          <p:nvPr/>
        </p:nvSpPr>
        <p:spPr>
          <a:xfrm>
            <a:off x="3749040" y="914400"/>
            <a:ext cx="443484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Records identified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(n = 701)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3657600" y="1965960"/>
            <a:ext cx="4572000" cy="822960"/>
          </a:xfrm>
          <a:prstGeom prst="rect">
            <a:avLst/>
          </a:prstGeom>
          <a:solidFill>
            <a:srgbClr val="003E74">
              <a:alpha val="85000"/>
            </a:srgbClr>
          </a:solidFill>
          <a:ln w="12700">
            <a:solidFill>
              <a:srgbClr val="003E74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9" name="Text 7"/>
          <p:cNvSpPr/>
          <p:nvPr/>
        </p:nvSpPr>
        <p:spPr>
          <a:xfrm>
            <a:off x="3749040" y="1965960"/>
            <a:ext cx="443484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After duplicates removed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(n = 545)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1645920" y="3017520"/>
            <a:ext cx="4114800" cy="822960"/>
          </a:xfrm>
          <a:prstGeom prst="rect">
            <a:avLst/>
          </a:prstGeom>
          <a:solidFill>
            <a:srgbClr val="2980B9">
              <a:alpha val="85000"/>
            </a:srgbClr>
          </a:solidFill>
          <a:ln w="12700">
            <a:solidFill>
              <a:srgbClr val="2980B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Text 9"/>
          <p:cNvSpPr/>
          <p:nvPr/>
        </p:nvSpPr>
        <p:spPr>
          <a:xfrm>
            <a:off x="1737360" y="3017520"/>
            <a:ext cx="397764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Records screened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(n = 545)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858000" y="3017520"/>
            <a:ext cx="3017520" cy="822960"/>
          </a:xfrm>
          <a:prstGeom prst="rect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3" name="Text 11"/>
          <p:cNvSpPr/>
          <p:nvPr/>
        </p:nvSpPr>
        <p:spPr>
          <a:xfrm>
            <a:off x="6949440" y="3017520"/>
            <a:ext cx="288036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Records excluded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(n = 495)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1645920" y="4069080"/>
            <a:ext cx="4114800" cy="822960"/>
          </a:xfrm>
          <a:prstGeom prst="rect">
            <a:avLst/>
          </a:prstGeom>
          <a:solidFill>
            <a:srgbClr val="2980B9">
              <a:alpha val="85000"/>
            </a:srgbClr>
          </a:solidFill>
          <a:ln w="12700">
            <a:solidFill>
              <a:srgbClr val="2980B9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Text 13"/>
          <p:cNvSpPr/>
          <p:nvPr/>
        </p:nvSpPr>
        <p:spPr>
          <a:xfrm>
            <a:off x="1737360" y="4069080"/>
            <a:ext cx="397764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Full-text assessed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(n = 50)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858000" y="4069080"/>
            <a:ext cx="3017520" cy="1280160"/>
          </a:xfrm>
          <a:prstGeom prst="rect">
            <a:avLst/>
          </a:prstGeom>
          <a:solidFill>
            <a:srgbClr val="E74C3C">
              <a:alpha val="80000"/>
            </a:srgbClr>
          </a:solidFill>
          <a:ln w="12700">
            <a:solidFill>
              <a:srgbClr val="E74C3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7" name="Text 15"/>
          <p:cNvSpPr/>
          <p:nvPr/>
        </p:nvSpPr>
        <p:spPr>
          <a:xfrm>
            <a:off x="6949440" y="4069080"/>
            <a:ext cx="2880360" cy="12801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Full-text excluded (n = 23)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Study design: n=9 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No original data: n=9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Language: n=1  </a:t>
            </a:r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• No full text: n=4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1645920" y="5120640"/>
            <a:ext cx="4114800" cy="822960"/>
          </a:xfrm>
          <a:prstGeom prst="rect">
            <a:avLst/>
          </a:prstGeom>
          <a:solidFill>
            <a:srgbClr val="1ABC9C">
              <a:alpha val="85000"/>
            </a:srgbClr>
          </a:solidFill>
          <a:ln w="12700">
            <a:solidFill>
              <a:srgbClr val="1ABC9C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Text 17"/>
          <p:cNvSpPr/>
          <p:nvPr/>
        </p:nvSpPr>
        <p:spPr>
          <a:xfrm>
            <a:off x="1737360" y="5120640"/>
            <a:ext cx="3977640" cy="822960"/>
          </a:xfrm>
          <a:prstGeom prst="rect">
            <a:avLst/>
          </a:prstGeom>
          <a:noFill/>
          <a:ln/>
        </p:spPr>
        <p:txBody>
          <a:bodyPr wrap="square" lIns="1270" tIns="1270" rIns="1270" bIns="127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Studies included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</a:rPr>
              <a:t>(n = 27 + 5 added manually = 32)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5943600" y="1737360"/>
            <a:ext cx="0" cy="22860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1" name="Shape 19"/>
          <p:cNvSpPr/>
          <p:nvPr/>
        </p:nvSpPr>
        <p:spPr>
          <a:xfrm>
            <a:off x="5760720" y="3419856"/>
            <a:ext cx="1097280" cy="9144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3703320" y="3840480"/>
            <a:ext cx="0" cy="22860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Shape 22"/>
          <p:cNvSpPr/>
          <p:nvPr/>
        </p:nvSpPr>
        <p:spPr>
          <a:xfrm>
            <a:off x="5760720" y="4480559"/>
            <a:ext cx="1097280" cy="1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5" name="Shape 23"/>
          <p:cNvSpPr/>
          <p:nvPr/>
        </p:nvSpPr>
        <p:spPr>
          <a:xfrm>
            <a:off x="3703320" y="4892040"/>
            <a:ext cx="0" cy="228600"/>
          </a:xfrm>
          <a:prstGeom prst="line">
            <a:avLst/>
          </a:prstGeom>
          <a:noFill/>
          <a:ln w="1524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Shape 24"/>
          <p:cNvSpPr/>
          <p:nvPr/>
        </p:nvSpPr>
        <p:spPr>
          <a:xfrm>
            <a:off x="10058400" y="822960"/>
            <a:ext cx="1828800" cy="5760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5"/>
          <p:cNvSpPr/>
          <p:nvPr/>
        </p:nvSpPr>
        <p:spPr>
          <a:xfrm>
            <a:off x="10058400" y="822960"/>
            <a:ext cx="64008" cy="5760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6"/>
          <p:cNvSpPr/>
          <p:nvPr/>
        </p:nvSpPr>
        <p:spPr>
          <a:xfrm>
            <a:off x="10149840" y="896112"/>
            <a:ext cx="16459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FFFFFF"/>
                </a:solidFill>
              </a:rPr>
              <a:t>Study Overview</a:t>
            </a:r>
            <a:endParaRPr lang="en-US" sz="1600" dirty="0"/>
          </a:p>
        </p:txBody>
      </p:sp>
      <p:sp>
        <p:nvSpPr>
          <p:cNvPr id="29" name="Text 27"/>
          <p:cNvSpPr/>
          <p:nvPr/>
        </p:nvSpPr>
        <p:spPr>
          <a:xfrm>
            <a:off x="10058400" y="1371600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BC9C"/>
                </a:solidFill>
              </a:rPr>
              <a:t>32</a:t>
            </a:r>
            <a:endParaRPr lang="en-US" sz="2200" dirty="0"/>
          </a:p>
        </p:txBody>
      </p:sp>
      <p:sp>
        <p:nvSpPr>
          <p:cNvPr id="30" name="Text 28"/>
          <p:cNvSpPr/>
          <p:nvPr/>
        </p:nvSpPr>
        <p:spPr>
          <a:xfrm>
            <a:off x="10058400" y="192024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Total Studies</a:t>
            </a:r>
          </a:p>
        </p:txBody>
      </p:sp>
      <p:sp>
        <p:nvSpPr>
          <p:cNvPr id="31" name="Text 29"/>
          <p:cNvSpPr/>
          <p:nvPr/>
        </p:nvSpPr>
        <p:spPr>
          <a:xfrm>
            <a:off x="10058400" y="2395728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BC9C"/>
                </a:solidFill>
              </a:rPr>
              <a:t>1978–2023</a:t>
            </a:r>
            <a:endParaRPr lang="en-US" sz="2200" dirty="0"/>
          </a:p>
        </p:txBody>
      </p:sp>
      <p:sp>
        <p:nvSpPr>
          <p:cNvPr id="32" name="Text 30"/>
          <p:cNvSpPr/>
          <p:nvPr/>
        </p:nvSpPr>
        <p:spPr>
          <a:xfrm>
            <a:off x="10058400" y="2944368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Year Range</a:t>
            </a:r>
          </a:p>
        </p:txBody>
      </p:sp>
      <p:sp>
        <p:nvSpPr>
          <p:cNvPr id="33" name="Text 31"/>
          <p:cNvSpPr/>
          <p:nvPr/>
        </p:nvSpPr>
        <p:spPr>
          <a:xfrm>
            <a:off x="10058400" y="3419856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BC9C"/>
                </a:solidFill>
              </a:rPr>
              <a:t>2010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10058400" y="3968496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Median Year</a:t>
            </a:r>
          </a:p>
        </p:txBody>
      </p:sp>
      <p:sp>
        <p:nvSpPr>
          <p:cNvPr id="35" name="Text 33"/>
          <p:cNvSpPr/>
          <p:nvPr/>
        </p:nvSpPr>
        <p:spPr>
          <a:xfrm>
            <a:off x="10058400" y="4443984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BC9C"/>
                </a:solidFill>
              </a:rPr>
              <a:t>22</a:t>
            </a:r>
            <a:endParaRPr lang="en-US" sz="2200" dirty="0"/>
          </a:p>
        </p:txBody>
      </p:sp>
      <p:sp>
        <p:nvSpPr>
          <p:cNvPr id="36" name="Text 34"/>
          <p:cNvSpPr/>
          <p:nvPr/>
        </p:nvSpPr>
        <p:spPr>
          <a:xfrm>
            <a:off x="10058400" y="4992624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Short-term</a:t>
            </a:r>
          </a:p>
        </p:txBody>
      </p:sp>
      <p:sp>
        <p:nvSpPr>
          <p:cNvPr id="37" name="Text 35"/>
          <p:cNvSpPr/>
          <p:nvPr/>
        </p:nvSpPr>
        <p:spPr>
          <a:xfrm>
            <a:off x="10058400" y="5468112"/>
            <a:ext cx="18288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ABC9C"/>
                </a:solidFill>
              </a:rPr>
              <a:t>13</a:t>
            </a:r>
            <a:endParaRPr lang="en-US" sz="2200" dirty="0"/>
          </a:p>
        </p:txBody>
      </p:sp>
      <p:sp>
        <p:nvSpPr>
          <p:cNvPr id="38" name="Text 36"/>
          <p:cNvSpPr/>
          <p:nvPr/>
        </p:nvSpPr>
        <p:spPr>
          <a:xfrm>
            <a:off x="10058400" y="6016752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chemeClr val="bg1"/>
                </a:solidFill>
              </a:rPr>
              <a:t>Long-term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0EBE9-5D65-E4A9-E7AE-1C8F39D8189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>
            <a:extLst>
              <a:ext uri="{FF2B5EF4-FFF2-40B4-BE49-F238E27FC236}">
                <a16:creationId xmlns:a16="http://schemas.microsoft.com/office/drawing/2014/main" id="{D4887B01-3C89-5C33-973D-DD44BE43C49D}"/>
              </a:ext>
            </a:extLst>
          </p:cNvPr>
          <p:cNvSpPr/>
          <p:nvPr/>
        </p:nvSpPr>
        <p:spPr>
          <a:xfrm>
            <a:off x="-2140" y="676656"/>
            <a:ext cx="12194140" cy="6181344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" name="Shape 0">
            <a:extLst>
              <a:ext uri="{FF2B5EF4-FFF2-40B4-BE49-F238E27FC236}">
                <a16:creationId xmlns:a16="http://schemas.microsoft.com/office/drawing/2014/main" id="{F858F4EA-9DFA-9C97-338A-5992FCED3BDB}"/>
              </a:ext>
            </a:extLst>
          </p:cNvPr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4AAE9000-CC96-0DFD-DF5D-D29D98438ABD}"/>
              </a:ext>
            </a:extLst>
          </p:cNvPr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1593C0B-0FA1-E5E7-4583-D5FF2087FA56}"/>
              </a:ext>
            </a:extLst>
          </p:cNvPr>
          <p:cNvSpPr/>
          <p:nvPr/>
        </p:nvSpPr>
        <p:spPr>
          <a:xfrm>
            <a:off x="36576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Characteristics</a:t>
            </a:r>
            <a:endParaRPr lang="en-US" sz="2400" dirty="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23900BDF-39C3-339F-FA44-53B71EA3BF07}"/>
              </a:ext>
            </a:extLst>
          </p:cNvPr>
          <p:cNvSpPr/>
          <p:nvPr/>
        </p:nvSpPr>
        <p:spPr>
          <a:xfrm>
            <a:off x="8686800" y="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F8C8D"/>
                </a:solidFill>
              </a:rPr>
              <a:t>Level of Evidence &amp; Geographic Distribution</a:t>
            </a:r>
            <a:endParaRPr lang="en-US" sz="1600" dirty="0"/>
          </a:p>
        </p:txBody>
      </p:sp>
      <p:sp>
        <p:nvSpPr>
          <p:cNvPr id="6" name="Shape 4">
            <a:extLst>
              <a:ext uri="{FF2B5EF4-FFF2-40B4-BE49-F238E27FC236}">
                <a16:creationId xmlns:a16="http://schemas.microsoft.com/office/drawing/2014/main" id="{9F94DD73-9C5D-CB0C-58B0-4F4375BC1C31}"/>
              </a:ext>
            </a:extLst>
          </p:cNvPr>
          <p:cNvSpPr/>
          <p:nvPr/>
        </p:nvSpPr>
        <p:spPr>
          <a:xfrm>
            <a:off x="274320" y="1231523"/>
            <a:ext cx="7132320" cy="50292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>
            <a:extLst>
              <a:ext uri="{FF2B5EF4-FFF2-40B4-BE49-F238E27FC236}">
                <a16:creationId xmlns:a16="http://schemas.microsoft.com/office/drawing/2014/main" id="{121C2EAA-25FF-4A9B-0F4E-190F62BB2A77}"/>
              </a:ext>
            </a:extLst>
          </p:cNvPr>
          <p:cNvSpPr/>
          <p:nvPr/>
        </p:nvSpPr>
        <p:spPr>
          <a:xfrm>
            <a:off x="274320" y="1231523"/>
            <a:ext cx="64008" cy="502920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>
            <a:extLst>
              <a:ext uri="{FF2B5EF4-FFF2-40B4-BE49-F238E27FC236}">
                <a16:creationId xmlns:a16="http://schemas.microsoft.com/office/drawing/2014/main" id="{F0220F02-BBF1-8E40-7D5B-44A51DE6D13B}"/>
              </a:ext>
            </a:extLst>
          </p:cNvPr>
          <p:cNvSpPr/>
          <p:nvPr/>
        </p:nvSpPr>
        <p:spPr>
          <a:xfrm>
            <a:off x="502920" y="1322963"/>
            <a:ext cx="66751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Level of Evidence (Oxford CEBM)</a:t>
            </a:r>
            <a:endParaRPr lang="en-US" sz="1800" dirty="0"/>
          </a:p>
        </p:txBody>
      </p:sp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9D0AC572-2B66-20B3-866C-4C49499FB4B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80548454"/>
              </p:ext>
            </p:extLst>
          </p:nvPr>
        </p:nvGraphicFramePr>
        <p:xfrm>
          <a:off x="457200" y="1761875"/>
          <a:ext cx="6766560" cy="4160520"/>
        </p:xfrm>
        <a:graphic>
          <a:graphicData uri="http://schemas.openxmlformats.org/drawingml/2006/table">
            <a:tbl>
              <a:tblPr/>
              <a:tblGrid>
                <a:gridCol w="5486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1206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 err="1">
                          <a:solidFill>
                            <a:srgbClr val="FFFFFF"/>
                          </a:solidFill>
                        </a:rPr>
                        <a:t>Lv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4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</a:rPr>
                        <a:t>n Studies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3E7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SR of RCTs (with homogeneity)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2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RCTs or observational studies with dramatic effects; SR of lower quality studies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3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Non-randomized controlled cohort/follow-up study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0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4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Case-series, case-control, or historically controlled studies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31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5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Expert opinion (mechanism-based reasoning)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Excl.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2E4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9436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6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Meta-analysis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600" dirty="0">
                          <a:solidFill>
                            <a:srgbClr val="ECF0F1"/>
                          </a:solidFill>
                        </a:rPr>
                        <a:t>1</a:t>
                      </a:r>
                      <a:endParaRPr lang="en-US" sz="1600" dirty="0"/>
                    </a:p>
                  </a:txBody>
                  <a:tcPr>
                    <a:lnL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E325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3233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>
            <a:extLst>
              <a:ext uri="{FF2B5EF4-FFF2-40B4-BE49-F238E27FC236}">
                <a16:creationId xmlns:a16="http://schemas.microsoft.com/office/drawing/2014/main" id="{48A0A127-5B50-FE30-ACA1-B465F1B12522}"/>
              </a:ext>
            </a:extLst>
          </p:cNvPr>
          <p:cNvSpPr/>
          <p:nvPr/>
        </p:nvSpPr>
        <p:spPr>
          <a:xfrm>
            <a:off x="7589520" y="1231523"/>
            <a:ext cx="4297680" cy="478990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D0EEC2C8-7865-320B-4A09-7DBEAE6555F2}"/>
              </a:ext>
            </a:extLst>
          </p:cNvPr>
          <p:cNvSpPr/>
          <p:nvPr/>
        </p:nvSpPr>
        <p:spPr>
          <a:xfrm>
            <a:off x="7589520" y="1231523"/>
            <a:ext cx="45719" cy="47899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4B49161-E013-E965-A29A-D365BC7D14E0}"/>
              </a:ext>
            </a:extLst>
          </p:cNvPr>
          <p:cNvSpPr/>
          <p:nvPr/>
        </p:nvSpPr>
        <p:spPr>
          <a:xfrm>
            <a:off x="7818120" y="1322963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Geographic Origin</a:t>
            </a:r>
            <a:endParaRPr lang="en-US" sz="1800" dirty="0"/>
          </a:p>
        </p:txBody>
      </p:sp>
      <p:graphicFrame>
        <p:nvGraphicFramePr>
          <p:cNvPr id="13" name="Chart 0">
            <a:extLst>
              <a:ext uri="{FF2B5EF4-FFF2-40B4-BE49-F238E27FC236}">
                <a16:creationId xmlns:a16="http://schemas.microsoft.com/office/drawing/2014/main" id="{BA99C8EA-74C4-ACC9-93E0-97AE38B8824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50971080"/>
              </p:ext>
            </p:extLst>
          </p:nvPr>
        </p:nvGraphicFramePr>
        <p:xfrm>
          <a:off x="7743216" y="1634247"/>
          <a:ext cx="4143983" cy="438717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62895478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Characteristics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F8C8D"/>
                </a:solidFill>
              </a:rPr>
              <a:t>Level of Evidence &amp; Geographic Distribution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173736" y="5044451"/>
            <a:ext cx="11499455" cy="1756836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pPr algn="just"/>
            <a:endParaRPr lang="en-US" dirty="0">
              <a:solidFill>
                <a:srgbClr val="ECF0F1"/>
              </a:solidFill>
            </a:endParaRPr>
          </a:p>
          <a:p>
            <a:pPr algn="just"/>
            <a:endParaRPr lang="en-US" dirty="0">
              <a:solidFill>
                <a:srgbClr val="ECF0F1"/>
              </a:solidFill>
            </a:endParaRPr>
          </a:p>
        </p:txBody>
      </p:sp>
      <p:sp>
        <p:nvSpPr>
          <p:cNvPr id="7" name="Shape 5"/>
          <p:cNvSpPr/>
          <p:nvPr/>
        </p:nvSpPr>
        <p:spPr>
          <a:xfrm>
            <a:off x="173736" y="5044451"/>
            <a:ext cx="45719" cy="1756836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37BB1679-813E-105A-E232-20F5CB328BD3}"/>
              </a:ext>
            </a:extLst>
          </p:cNvPr>
          <p:cNvGrpSpPr/>
          <p:nvPr/>
        </p:nvGrpSpPr>
        <p:grpSpPr>
          <a:xfrm>
            <a:off x="1929821" y="819458"/>
            <a:ext cx="8301877" cy="4109623"/>
            <a:chOff x="7589520" y="3566160"/>
            <a:chExt cx="4328160" cy="2468880"/>
          </a:xfrm>
        </p:grpSpPr>
        <p:sp>
          <p:nvSpPr>
            <p:cNvPr id="14" name="Shape 10"/>
            <p:cNvSpPr/>
            <p:nvPr/>
          </p:nvSpPr>
          <p:spPr>
            <a:xfrm>
              <a:off x="7589520" y="3566160"/>
              <a:ext cx="4328160" cy="2468880"/>
            </a:xfrm>
            <a:prstGeom prst="rect">
              <a:avLst/>
            </a:prstGeom>
            <a:solidFill>
              <a:srgbClr val="1A2E45"/>
            </a:solidFill>
            <a:ln w="12700">
              <a:solidFill>
                <a:srgbClr val="1E3250"/>
              </a:solidFill>
              <a:prstDash val="solid"/>
            </a:ln>
            <a:effectLst>
              <a:outerShdw blurRad="76200" dist="25400" dir="8100000" algn="bl" rotWithShape="0">
                <a:srgbClr val="000000">
                  <a:alpha val="20000"/>
                </a:srgbClr>
              </a:outerShdw>
            </a:effectLst>
          </p:spPr>
          <p:txBody>
            <a:bodyPr/>
            <a:lstStyle/>
            <a:p>
              <a:endParaRPr lang="en-GB" sz="2000"/>
            </a:p>
          </p:txBody>
        </p:sp>
        <p:sp>
          <p:nvSpPr>
            <p:cNvPr id="15" name="Shape 11"/>
            <p:cNvSpPr/>
            <p:nvPr/>
          </p:nvSpPr>
          <p:spPr>
            <a:xfrm>
              <a:off x="7589520" y="3566160"/>
              <a:ext cx="23835" cy="2450592"/>
            </a:xfrm>
            <a:prstGeom prst="rect">
              <a:avLst/>
            </a:prstGeom>
            <a:solidFill>
              <a:srgbClr val="F39C12"/>
            </a:solidFill>
            <a:ln w="12700">
              <a:solidFill>
                <a:srgbClr val="F39C12"/>
              </a:solidFill>
              <a:prstDash val="solid"/>
            </a:ln>
          </p:spPr>
          <p:txBody>
            <a:bodyPr/>
            <a:lstStyle/>
            <a:p>
              <a:endParaRPr lang="en-GB"/>
            </a:p>
          </p:txBody>
        </p:sp>
        <p:sp>
          <p:nvSpPr>
            <p:cNvPr id="16" name="Text 12"/>
            <p:cNvSpPr/>
            <p:nvPr/>
          </p:nvSpPr>
          <p:spPr>
            <a:xfrm>
              <a:off x="7818120" y="3657600"/>
              <a:ext cx="3840480" cy="38404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>
                <a:buNone/>
              </a:pPr>
              <a:r>
                <a:rPr lang="en-US" sz="2000" b="1" dirty="0">
                  <a:solidFill>
                    <a:srgbClr val="FFFFFF"/>
                  </a:solidFill>
                </a:rPr>
                <a:t>Outcomes Investigated</a:t>
              </a:r>
              <a:endParaRPr lang="en-US" sz="2000" dirty="0"/>
            </a:p>
          </p:txBody>
        </p:sp>
        <p:graphicFrame>
          <p:nvGraphicFramePr>
            <p:cNvPr id="17" name="Chart 1"/>
            <p:cNvGraphicFramePr/>
            <p:nvPr>
              <p:extLst>
                <p:ext uri="{D42A27DB-BD31-4B8C-83A1-F6EECF244321}">
                  <p14:modId xmlns:p14="http://schemas.microsoft.com/office/powerpoint/2010/main" val="927659560"/>
                </p:ext>
              </p:extLst>
            </p:nvPr>
          </p:nvGraphicFramePr>
          <p:xfrm>
            <a:off x="7872984" y="4017133"/>
            <a:ext cx="3730752" cy="1810511"/>
          </p:xfrm>
          <a:graphic>
            <a:graphicData uri="http://schemas.openxmlformats.org/drawingml/2006/chart">
              <c:chart xmlns:c="http://schemas.openxmlformats.org/drawingml/2006/chart" xmlns:r="http://schemas.openxmlformats.org/officeDocument/2006/relationships" r:id="rId3"/>
            </a:graphicData>
          </a:graphic>
        </p:graphicFrame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ECAA7A6B-8847-E762-4EB4-CE69C071A19A}"/>
              </a:ext>
            </a:extLst>
          </p:cNvPr>
          <p:cNvSpPr txBox="1"/>
          <p:nvPr/>
        </p:nvSpPr>
        <p:spPr>
          <a:xfrm>
            <a:off x="661481" y="5544766"/>
            <a:ext cx="1086903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ECF0F1"/>
                </a:solidFill>
              </a:rPr>
              <a:t>·  22/32 studies examined short-term effects (≤2 weeks)  </a:t>
            </a:r>
          </a:p>
          <a:p>
            <a:r>
              <a:rPr lang="en-US" sz="2000" dirty="0">
                <a:solidFill>
                  <a:srgbClr val="ECF0F1"/>
                </a:solidFill>
              </a:rPr>
              <a:t>·  13/32 studies examined long-term effects (3–13 weeks)  </a:t>
            </a:r>
          </a:p>
          <a:p>
            <a:r>
              <a:rPr lang="en-US" sz="2000" dirty="0">
                <a:solidFill>
                  <a:srgbClr val="ECF0F1"/>
                </a:solidFill>
              </a:rPr>
              <a:t>·  Years: 1973–2021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Effects — Spring (ST → DST)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F8C8D"/>
                </a:solidFill>
              </a:rPr>
              <a:t>22 Studies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7145" y="5356049"/>
            <a:ext cx="365760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7" name="Shape 5"/>
          <p:cNvSpPr/>
          <p:nvPr/>
        </p:nvSpPr>
        <p:spPr>
          <a:xfrm>
            <a:off x="7317145" y="5356049"/>
            <a:ext cx="64008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" name="Text 6"/>
          <p:cNvSpPr/>
          <p:nvPr/>
        </p:nvSpPr>
        <p:spPr>
          <a:xfrm>
            <a:off x="7500025" y="5401769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7AE60"/>
                </a:solidFill>
              </a:rPr>
              <a:t>2/22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145945" y="5401769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7AE60"/>
                </a:solidFill>
              </a:rPr>
              <a:t>9%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500025" y="5977841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</a:rPr>
              <a:t>Reduction in RTCs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17145" y="3192861"/>
            <a:ext cx="365760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2" name="Shape 10"/>
          <p:cNvSpPr/>
          <p:nvPr/>
        </p:nvSpPr>
        <p:spPr>
          <a:xfrm>
            <a:off x="7317145" y="3192861"/>
            <a:ext cx="64008" cy="1188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3" name="Text 11"/>
          <p:cNvSpPr/>
          <p:nvPr/>
        </p:nvSpPr>
        <p:spPr>
          <a:xfrm>
            <a:off x="7500025" y="3238581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4C3C"/>
                </a:solidFill>
              </a:rPr>
              <a:t>11/22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45945" y="3238581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E74C3C"/>
                </a:solidFill>
              </a:rPr>
              <a:t>50%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500025" y="3814653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</a:rPr>
              <a:t>Increase in RTCs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7145" y="1029673"/>
            <a:ext cx="365760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7" name="Shape 15"/>
          <p:cNvSpPr/>
          <p:nvPr/>
        </p:nvSpPr>
        <p:spPr>
          <a:xfrm>
            <a:off x="7317145" y="1029673"/>
            <a:ext cx="64008" cy="118872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" name="Text 16"/>
          <p:cNvSpPr/>
          <p:nvPr/>
        </p:nvSpPr>
        <p:spPr>
          <a:xfrm>
            <a:off x="7500025" y="1075393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F8C8D"/>
                </a:solidFill>
              </a:rPr>
              <a:t>9/22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45945" y="1075393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7F8C8D"/>
                </a:solidFill>
              </a:rPr>
              <a:t>40%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500025" y="1651465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</a:rPr>
              <a:t>No change in RTCs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11111905" y="1029673"/>
            <a:ext cx="0" cy="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22" name="Shape 20"/>
          <p:cNvSpPr/>
          <p:nvPr/>
        </p:nvSpPr>
        <p:spPr>
          <a:xfrm>
            <a:off x="280838" y="1265968"/>
            <a:ext cx="5898776" cy="5128313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80838" y="1265968"/>
            <a:ext cx="64007" cy="5128313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463717" y="1357409"/>
            <a:ext cx="5224631" cy="3739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Spring Distribution</a:t>
            </a:r>
            <a:endParaRPr 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1201625917"/>
              </p:ext>
            </p:extLst>
          </p:nvPr>
        </p:nvGraphicFramePr>
        <p:xfrm>
          <a:off x="372278" y="1704881"/>
          <a:ext cx="5730240" cy="461548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Effects — Autumn (DST → ST)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F8C8D"/>
                </a:solidFill>
              </a:rPr>
              <a:t>19 Studies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7293799" y="3083086"/>
            <a:ext cx="365760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2" name="Shape 10"/>
          <p:cNvSpPr/>
          <p:nvPr/>
        </p:nvSpPr>
        <p:spPr>
          <a:xfrm>
            <a:off x="7293799" y="3083086"/>
            <a:ext cx="64008" cy="1188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3" name="Text 11"/>
          <p:cNvSpPr/>
          <p:nvPr/>
        </p:nvSpPr>
        <p:spPr>
          <a:xfrm>
            <a:off x="7476679" y="312880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4C3C"/>
                </a:solidFill>
              </a:rPr>
              <a:t>6/19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22599" y="3128806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E74C3C"/>
                </a:solidFill>
              </a:rPr>
              <a:t>32%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476679" y="3704878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</a:rPr>
              <a:t>Increase in RTCs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293799" y="1234440"/>
            <a:ext cx="365760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7" name="Shape 15"/>
          <p:cNvSpPr/>
          <p:nvPr/>
        </p:nvSpPr>
        <p:spPr>
          <a:xfrm>
            <a:off x="7293799" y="1234440"/>
            <a:ext cx="64008" cy="118872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" name="Text 16"/>
          <p:cNvSpPr/>
          <p:nvPr/>
        </p:nvSpPr>
        <p:spPr>
          <a:xfrm>
            <a:off x="7476679" y="12801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F8C8D"/>
                </a:solidFill>
              </a:rPr>
              <a:t>11/19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22599" y="128016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7F8C8D"/>
                </a:solidFill>
              </a:rPr>
              <a:t>58%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476679" y="185623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</a:rPr>
              <a:t>No change in RTCs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365760" y="1548351"/>
            <a:ext cx="6068114" cy="4349237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sz="2000"/>
          </a:p>
        </p:txBody>
      </p:sp>
      <p:sp>
        <p:nvSpPr>
          <p:cNvPr id="22" name="Shape 20"/>
          <p:cNvSpPr/>
          <p:nvPr/>
        </p:nvSpPr>
        <p:spPr>
          <a:xfrm>
            <a:off x="365759" y="1548351"/>
            <a:ext cx="64009" cy="4349237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1"/>
          <p:cNvSpPr/>
          <p:nvPr/>
        </p:nvSpPr>
        <p:spPr>
          <a:xfrm>
            <a:off x="548639" y="1639791"/>
            <a:ext cx="5196451" cy="41804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Autumn Distribution</a:t>
            </a:r>
            <a:endParaRPr 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24" name="Chart 0"/>
          <p:cNvGraphicFramePr/>
          <p:nvPr>
            <p:extLst>
              <p:ext uri="{D42A27DB-BD31-4B8C-83A1-F6EECF244321}">
                <p14:modId xmlns:p14="http://schemas.microsoft.com/office/powerpoint/2010/main" val="1269733102"/>
              </p:ext>
            </p:extLst>
          </p:nvPr>
        </p:nvGraphicFramePr>
        <p:xfrm>
          <a:off x="475487" y="2094528"/>
          <a:ext cx="5866961" cy="35505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32" name="Shape 4"/>
          <p:cNvSpPr/>
          <p:nvPr/>
        </p:nvSpPr>
        <p:spPr>
          <a:xfrm>
            <a:off x="7293799" y="4983480"/>
            <a:ext cx="365760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33" name="Shape 5"/>
          <p:cNvSpPr/>
          <p:nvPr/>
        </p:nvSpPr>
        <p:spPr>
          <a:xfrm>
            <a:off x="7293799" y="4983480"/>
            <a:ext cx="64008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34" name="Text 6"/>
          <p:cNvSpPr/>
          <p:nvPr/>
        </p:nvSpPr>
        <p:spPr>
          <a:xfrm>
            <a:off x="7476679" y="502920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7AE60"/>
                </a:solidFill>
              </a:rPr>
              <a:t>2/19</a:t>
            </a:r>
            <a:endParaRPr lang="en-US" sz="4000" dirty="0"/>
          </a:p>
        </p:txBody>
      </p:sp>
      <p:sp>
        <p:nvSpPr>
          <p:cNvPr id="35" name="Text 7"/>
          <p:cNvSpPr/>
          <p:nvPr/>
        </p:nvSpPr>
        <p:spPr>
          <a:xfrm>
            <a:off x="9122599" y="502920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7AE60"/>
                </a:solidFill>
              </a:rPr>
              <a:t>10%</a:t>
            </a:r>
            <a:endParaRPr lang="en-US" sz="3200" dirty="0"/>
          </a:p>
        </p:txBody>
      </p:sp>
      <p:sp>
        <p:nvSpPr>
          <p:cNvPr id="36" name="Text 8"/>
          <p:cNvSpPr/>
          <p:nvPr/>
        </p:nvSpPr>
        <p:spPr>
          <a:xfrm>
            <a:off x="7476679" y="560527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</a:rPr>
              <a:t>Reduction in RTCs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Short-Term Effects: Spring vs Autumn Comparison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F8C8D"/>
                </a:solidFill>
              </a:rPr>
              <a:t>22 Spring Studies · 19 Autumn Studies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7772400" cy="5760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64008" cy="5760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4010266430"/>
              </p:ext>
            </p:extLst>
          </p:nvPr>
        </p:nvGraphicFramePr>
        <p:xfrm>
          <a:off x="411480" y="914400"/>
          <a:ext cx="7635240" cy="5669279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8229600" y="822960"/>
            <a:ext cx="3657600" cy="5760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8229600" y="822960"/>
            <a:ext cx="64008" cy="5760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8458200" y="9144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Takeaways</a:t>
            </a:r>
            <a:endParaRPr lang="en-US" sz="1800" dirty="0"/>
          </a:p>
        </p:txBody>
      </p:sp>
      <p:sp>
        <p:nvSpPr>
          <p:cNvPr id="13" name="Shape 10"/>
          <p:cNvSpPr/>
          <p:nvPr/>
        </p:nvSpPr>
        <p:spPr>
          <a:xfrm>
            <a:off x="8366760" y="1371600"/>
            <a:ext cx="338328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4" name="Shape 11"/>
          <p:cNvSpPr/>
          <p:nvPr/>
        </p:nvSpPr>
        <p:spPr>
          <a:xfrm>
            <a:off x="8366760" y="1371600"/>
            <a:ext cx="64008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5" name="Text 12"/>
          <p:cNvSpPr/>
          <p:nvPr/>
        </p:nvSpPr>
        <p:spPr>
          <a:xfrm>
            <a:off x="8549640" y="143560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</a:rPr>
              <a:t>Spring Transition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8549640" y="173736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50% of studies show ↑ RTCs in the week after clocks spring forward</a:t>
            </a:r>
            <a:endParaRPr lang="en-US" sz="1600" dirty="0"/>
          </a:p>
        </p:txBody>
      </p:sp>
      <p:sp>
        <p:nvSpPr>
          <p:cNvPr id="17" name="Shape 14"/>
          <p:cNvSpPr/>
          <p:nvPr/>
        </p:nvSpPr>
        <p:spPr>
          <a:xfrm>
            <a:off x="8366760" y="2606040"/>
            <a:ext cx="338328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8" name="Shape 15"/>
          <p:cNvSpPr/>
          <p:nvPr/>
        </p:nvSpPr>
        <p:spPr>
          <a:xfrm>
            <a:off x="8366760" y="2606040"/>
            <a:ext cx="64008" cy="105156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9" name="Text 16"/>
          <p:cNvSpPr/>
          <p:nvPr/>
        </p:nvSpPr>
        <p:spPr>
          <a:xfrm>
            <a:off x="8549640" y="267004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7F8C8D"/>
                </a:solidFill>
              </a:rPr>
              <a:t>Autumn Transition</a:t>
            </a:r>
            <a:endParaRPr lang="en-US" sz="1600" dirty="0"/>
          </a:p>
        </p:txBody>
      </p:sp>
      <p:sp>
        <p:nvSpPr>
          <p:cNvPr id="20" name="Text 17"/>
          <p:cNvSpPr/>
          <p:nvPr/>
        </p:nvSpPr>
        <p:spPr>
          <a:xfrm>
            <a:off x="8549640" y="297180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58% of studies show no change when clocks fall back</a:t>
            </a:r>
            <a:endParaRPr lang="en-US" sz="1600" dirty="0"/>
          </a:p>
        </p:txBody>
      </p:sp>
      <p:sp>
        <p:nvSpPr>
          <p:cNvPr id="21" name="Shape 18"/>
          <p:cNvSpPr/>
          <p:nvPr/>
        </p:nvSpPr>
        <p:spPr>
          <a:xfrm>
            <a:off x="8366760" y="3840480"/>
            <a:ext cx="338328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2" name="Shape 19"/>
          <p:cNvSpPr/>
          <p:nvPr/>
        </p:nvSpPr>
        <p:spPr>
          <a:xfrm>
            <a:off x="8366760" y="3840480"/>
            <a:ext cx="64008" cy="105156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8549640" y="390448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39C12"/>
                </a:solidFill>
              </a:rPr>
              <a:t>Asymmetric Effect</a:t>
            </a:r>
            <a:endParaRPr lang="en-US" sz="1600" dirty="0"/>
          </a:p>
        </p:txBody>
      </p:sp>
      <p:sp>
        <p:nvSpPr>
          <p:cNvPr id="24" name="Text 21"/>
          <p:cNvSpPr/>
          <p:nvPr/>
        </p:nvSpPr>
        <p:spPr>
          <a:xfrm>
            <a:off x="8549640" y="420624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Spring (ST→DST) appears more disruptive than Autumn (DST→ST)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8366760" y="5074920"/>
            <a:ext cx="3383280" cy="10515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6" name="Shape 23"/>
          <p:cNvSpPr/>
          <p:nvPr/>
        </p:nvSpPr>
        <p:spPr>
          <a:xfrm>
            <a:off x="8366760" y="5074920"/>
            <a:ext cx="64008" cy="105156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7" name="Text 24"/>
          <p:cNvSpPr/>
          <p:nvPr/>
        </p:nvSpPr>
        <p:spPr>
          <a:xfrm>
            <a:off x="8549640" y="5138928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E74C3C"/>
                </a:solidFill>
              </a:rPr>
              <a:t>Fatal Accidents</a:t>
            </a:r>
            <a:endParaRPr lang="en-US" sz="1600" dirty="0"/>
          </a:p>
        </p:txBody>
      </p:sp>
      <p:sp>
        <p:nvSpPr>
          <p:cNvPr id="28" name="Text 25"/>
          <p:cNvSpPr/>
          <p:nvPr/>
        </p:nvSpPr>
        <p:spPr>
          <a:xfrm>
            <a:off x="8549640" y="5440680"/>
            <a:ext cx="301752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Multiple studies specifically highlight ↑ in fatal accidents in Spring</a:t>
            </a:r>
            <a:endParaRPr lang="en-US" sz="16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Long-Term Effects (DST Months)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F8C8D"/>
                </a:solidFill>
              </a:rPr>
              <a:t>13 Studies · 3–13 Weeks Around Transitions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47204" y="4022774"/>
            <a:ext cx="365760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7" name="Shape 5"/>
          <p:cNvSpPr/>
          <p:nvPr/>
        </p:nvSpPr>
        <p:spPr>
          <a:xfrm>
            <a:off x="7347204" y="4022774"/>
            <a:ext cx="64008" cy="1188720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8" name="Text 6"/>
          <p:cNvSpPr/>
          <p:nvPr/>
        </p:nvSpPr>
        <p:spPr>
          <a:xfrm>
            <a:off x="7530084" y="4068494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27AE60"/>
                </a:solidFill>
              </a:rPr>
              <a:t>7/13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9176004" y="4068494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27AE60"/>
                </a:solidFill>
              </a:rPr>
              <a:t>53%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7530084" y="4644566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</a:rPr>
              <a:t>Reduction in RTCs during DST months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347204" y="2650002"/>
            <a:ext cx="365760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2" name="Shape 10"/>
          <p:cNvSpPr/>
          <p:nvPr/>
        </p:nvSpPr>
        <p:spPr>
          <a:xfrm>
            <a:off x="7347204" y="2650002"/>
            <a:ext cx="64008" cy="118872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3" name="Text 11"/>
          <p:cNvSpPr/>
          <p:nvPr/>
        </p:nvSpPr>
        <p:spPr>
          <a:xfrm>
            <a:off x="7530084" y="2695722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E74C3C"/>
                </a:solidFill>
              </a:rPr>
              <a:t>3/13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9176004" y="2695722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E74C3C"/>
                </a:solidFill>
              </a:rPr>
              <a:t>23%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7530084" y="3271794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</a:rPr>
              <a:t>Increase in RTCs during DST months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7315200" y="1277230"/>
            <a:ext cx="3657600" cy="1188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 sz="2400"/>
          </a:p>
        </p:txBody>
      </p:sp>
      <p:sp>
        <p:nvSpPr>
          <p:cNvPr id="17" name="Shape 15"/>
          <p:cNvSpPr/>
          <p:nvPr/>
        </p:nvSpPr>
        <p:spPr>
          <a:xfrm>
            <a:off x="7315200" y="1277230"/>
            <a:ext cx="64008" cy="1188720"/>
          </a:xfrm>
          <a:prstGeom prst="rect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GB" sz="2400"/>
          </a:p>
        </p:txBody>
      </p:sp>
      <p:sp>
        <p:nvSpPr>
          <p:cNvPr id="18" name="Text 16"/>
          <p:cNvSpPr/>
          <p:nvPr/>
        </p:nvSpPr>
        <p:spPr>
          <a:xfrm>
            <a:off x="7498080" y="132295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7F8C8D"/>
                </a:solidFill>
              </a:rPr>
              <a:t>3/13</a:t>
            </a:r>
            <a:endParaRPr lang="en-US" sz="4000" dirty="0"/>
          </a:p>
        </p:txBody>
      </p:sp>
      <p:sp>
        <p:nvSpPr>
          <p:cNvPr id="19" name="Text 17"/>
          <p:cNvSpPr/>
          <p:nvPr/>
        </p:nvSpPr>
        <p:spPr>
          <a:xfrm>
            <a:off x="9144000" y="1322950"/>
            <a:ext cx="1645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3200" b="1" dirty="0">
                <a:solidFill>
                  <a:srgbClr val="7F8C8D"/>
                </a:solidFill>
              </a:rPr>
              <a:t>23%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7498080" y="1899022"/>
            <a:ext cx="3291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dirty="0">
                <a:solidFill>
                  <a:srgbClr val="ECF0F1"/>
                </a:solidFill>
              </a:rPr>
              <a:t>No change in RTCs during DST months</a:t>
            </a:r>
            <a:endParaRPr lang="en-US" sz="2000" dirty="0"/>
          </a:p>
        </p:txBody>
      </p:sp>
      <p:sp>
        <p:nvSpPr>
          <p:cNvPr id="21" name="Shape 19"/>
          <p:cNvSpPr/>
          <p:nvPr/>
        </p:nvSpPr>
        <p:spPr>
          <a:xfrm>
            <a:off x="918782" y="977025"/>
            <a:ext cx="5266944" cy="4562856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graphicFrame>
        <p:nvGraphicFramePr>
          <p:cNvPr id="23" name="Chart 0"/>
          <p:cNvGraphicFramePr/>
          <p:nvPr>
            <p:extLst>
              <p:ext uri="{D42A27DB-BD31-4B8C-83A1-F6EECF244321}">
                <p14:modId xmlns:p14="http://schemas.microsoft.com/office/powerpoint/2010/main" val="2178717911"/>
              </p:ext>
            </p:extLst>
          </p:nvPr>
        </p:nvGraphicFramePr>
        <p:xfrm>
          <a:off x="922025" y="977025"/>
          <a:ext cx="5231697" cy="456285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8" name="Shape 24"/>
          <p:cNvSpPr/>
          <p:nvPr/>
        </p:nvSpPr>
        <p:spPr>
          <a:xfrm>
            <a:off x="289560" y="5750575"/>
            <a:ext cx="11597640" cy="833105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9" name="Text 25"/>
          <p:cNvSpPr/>
          <p:nvPr/>
        </p:nvSpPr>
        <p:spPr>
          <a:xfrm>
            <a:off x="642026" y="5912082"/>
            <a:ext cx="11016574" cy="58015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Permanent DST Modelling — 5 studies extrapolated year-round DST scenarios using real traffic data. All 5 predicted a net reduction in road traffic accidents and fatalities, particularly for pedestrians and vulnerable road users.</a:t>
            </a:r>
            <a:endParaRPr lang="en-US" sz="1600" dirty="0"/>
          </a:p>
        </p:txBody>
      </p:sp>
      <p:sp>
        <p:nvSpPr>
          <p:cNvPr id="30" name="Shape 8">
            <a:extLst>
              <a:ext uri="{FF2B5EF4-FFF2-40B4-BE49-F238E27FC236}">
                <a16:creationId xmlns:a16="http://schemas.microsoft.com/office/drawing/2014/main" id="{CBD39333-8FBE-D0BD-5093-A8A84F136DD9}"/>
              </a:ext>
            </a:extLst>
          </p:cNvPr>
          <p:cNvSpPr/>
          <p:nvPr/>
        </p:nvSpPr>
        <p:spPr>
          <a:xfrm>
            <a:off x="281940" y="5746373"/>
            <a:ext cx="45719" cy="833105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1" name="Shape 21">
            <a:extLst>
              <a:ext uri="{FF2B5EF4-FFF2-40B4-BE49-F238E27FC236}">
                <a16:creationId xmlns:a16="http://schemas.microsoft.com/office/drawing/2014/main" id="{D01B752C-048F-771D-3F97-970134B739C1}"/>
              </a:ext>
            </a:extLst>
          </p:cNvPr>
          <p:cNvSpPr/>
          <p:nvPr/>
        </p:nvSpPr>
        <p:spPr>
          <a:xfrm>
            <a:off x="922025" y="977025"/>
            <a:ext cx="45719" cy="4562855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Sub-group Analyses: Vulnerable Road Users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F8C8D"/>
                </a:solidFill>
              </a:rPr>
              <a:t>Pedestrians · Children · Cyclists · Animals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265176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64008" cy="109728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457200" y="868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🚶  Pedestrians</a:t>
            </a:r>
            <a:endParaRPr lang="en-US" sz="1900" dirty="0"/>
          </a:p>
        </p:txBody>
      </p:sp>
      <p:sp>
        <p:nvSpPr>
          <p:cNvPr id="9" name="Text 7"/>
          <p:cNvSpPr/>
          <p:nvPr/>
        </p:nvSpPr>
        <p:spPr>
          <a:xfrm>
            <a:off x="45720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2980B9"/>
                </a:solidFill>
              </a:rPr>
              <a:t>6 studies</a:t>
            </a:r>
            <a:endParaRPr lang="en-US" sz="1700" dirty="0"/>
          </a:p>
        </p:txBody>
      </p:sp>
      <p:sp>
        <p:nvSpPr>
          <p:cNvPr id="10" name="Shape 8"/>
          <p:cNvSpPr/>
          <p:nvPr/>
        </p:nvSpPr>
        <p:spPr>
          <a:xfrm>
            <a:off x="3200400" y="822960"/>
            <a:ext cx="265176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9"/>
          <p:cNvSpPr/>
          <p:nvPr/>
        </p:nvSpPr>
        <p:spPr>
          <a:xfrm>
            <a:off x="3200400" y="822960"/>
            <a:ext cx="64008" cy="1097280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10"/>
          <p:cNvSpPr/>
          <p:nvPr/>
        </p:nvSpPr>
        <p:spPr>
          <a:xfrm>
            <a:off x="3383280" y="868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🧒  Children</a:t>
            </a:r>
            <a:endParaRPr lang="en-US" sz="1900" dirty="0"/>
          </a:p>
        </p:txBody>
      </p:sp>
      <p:sp>
        <p:nvSpPr>
          <p:cNvPr id="13" name="Text 11"/>
          <p:cNvSpPr/>
          <p:nvPr/>
        </p:nvSpPr>
        <p:spPr>
          <a:xfrm>
            <a:off x="338328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F39C12"/>
                </a:solidFill>
              </a:rPr>
              <a:t>3 studies</a:t>
            </a:r>
            <a:endParaRPr lang="en-US" sz="1700" dirty="0"/>
          </a:p>
        </p:txBody>
      </p:sp>
      <p:sp>
        <p:nvSpPr>
          <p:cNvPr id="14" name="Shape 12"/>
          <p:cNvSpPr/>
          <p:nvPr/>
        </p:nvSpPr>
        <p:spPr>
          <a:xfrm>
            <a:off x="6126480" y="822960"/>
            <a:ext cx="265176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5" name="Shape 13"/>
          <p:cNvSpPr/>
          <p:nvPr/>
        </p:nvSpPr>
        <p:spPr>
          <a:xfrm>
            <a:off x="6126480" y="822960"/>
            <a:ext cx="64008" cy="109728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6" name="Text 14"/>
          <p:cNvSpPr/>
          <p:nvPr/>
        </p:nvSpPr>
        <p:spPr>
          <a:xfrm>
            <a:off x="6309360" y="868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🚴  Cyclists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630936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1ABC9C"/>
                </a:solidFill>
              </a:rPr>
              <a:t>2 studies</a:t>
            </a:r>
            <a:endParaRPr lang="en-US" sz="1700" dirty="0"/>
          </a:p>
        </p:txBody>
      </p:sp>
      <p:sp>
        <p:nvSpPr>
          <p:cNvPr id="18" name="Shape 16"/>
          <p:cNvSpPr/>
          <p:nvPr/>
        </p:nvSpPr>
        <p:spPr>
          <a:xfrm>
            <a:off x="9052560" y="822960"/>
            <a:ext cx="2651760" cy="109728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9" name="Shape 17"/>
          <p:cNvSpPr/>
          <p:nvPr/>
        </p:nvSpPr>
        <p:spPr>
          <a:xfrm>
            <a:off x="9052560" y="822960"/>
            <a:ext cx="64008" cy="1097280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8"/>
          <p:cNvSpPr/>
          <p:nvPr/>
        </p:nvSpPr>
        <p:spPr>
          <a:xfrm>
            <a:off x="9235440" y="868680"/>
            <a:ext cx="2286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🦌  Animals</a:t>
            </a:r>
            <a:endParaRPr lang="en-US" sz="1900" dirty="0"/>
          </a:p>
        </p:txBody>
      </p:sp>
      <p:sp>
        <p:nvSpPr>
          <p:cNvPr id="21" name="Text 19"/>
          <p:cNvSpPr/>
          <p:nvPr/>
        </p:nvSpPr>
        <p:spPr>
          <a:xfrm>
            <a:off x="9235440" y="12801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E74C3C"/>
                </a:solidFill>
              </a:rPr>
              <a:t>3 studies</a:t>
            </a:r>
            <a:endParaRPr lang="en-US" sz="1700" dirty="0"/>
          </a:p>
        </p:txBody>
      </p:sp>
      <p:sp>
        <p:nvSpPr>
          <p:cNvPr id="22" name="Shape 20"/>
          <p:cNvSpPr/>
          <p:nvPr/>
        </p:nvSpPr>
        <p:spPr>
          <a:xfrm>
            <a:off x="274320" y="2103120"/>
            <a:ext cx="5029200" cy="448056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3" name="Shape 21"/>
          <p:cNvSpPr/>
          <p:nvPr/>
        </p:nvSpPr>
        <p:spPr>
          <a:xfrm>
            <a:off x="274320" y="2103120"/>
            <a:ext cx="64008" cy="448056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4" name="Text 22"/>
          <p:cNvSpPr/>
          <p:nvPr/>
        </p:nvSpPr>
        <p:spPr>
          <a:xfrm>
            <a:off x="502920" y="21945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Outcomes During DST Months</a:t>
            </a:r>
            <a:endParaRPr lang="en-US" sz="1800" dirty="0"/>
          </a:p>
        </p:txBody>
      </p:sp>
      <p:graphicFrame>
        <p:nvGraphicFramePr>
          <p:cNvPr id="25" name="Chart 0"/>
          <p:cNvGraphicFramePr/>
          <p:nvPr>
            <p:extLst>
              <p:ext uri="{D42A27DB-BD31-4B8C-83A1-F6EECF244321}">
                <p14:modId xmlns:p14="http://schemas.microsoft.com/office/powerpoint/2010/main" val="3361984116"/>
              </p:ext>
            </p:extLst>
          </p:nvPr>
        </p:nvGraphicFramePr>
        <p:xfrm>
          <a:off x="457200" y="2514600"/>
          <a:ext cx="48463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6" name="Shape 23"/>
          <p:cNvSpPr/>
          <p:nvPr/>
        </p:nvSpPr>
        <p:spPr>
          <a:xfrm>
            <a:off x="5577840" y="2103120"/>
            <a:ext cx="6339840" cy="4718304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27" name="Shape 24"/>
          <p:cNvSpPr/>
          <p:nvPr/>
        </p:nvSpPr>
        <p:spPr>
          <a:xfrm>
            <a:off x="5577840" y="2103120"/>
            <a:ext cx="64008" cy="448056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8" name="Text 25"/>
          <p:cNvSpPr/>
          <p:nvPr/>
        </p:nvSpPr>
        <p:spPr>
          <a:xfrm>
            <a:off x="5806440" y="2194560"/>
            <a:ext cx="5852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Key Findings for Vulnerable Users</a:t>
            </a:r>
            <a:endParaRPr lang="en-US" sz="1800" dirty="0"/>
          </a:p>
        </p:txBody>
      </p:sp>
      <p:sp>
        <p:nvSpPr>
          <p:cNvPr id="29" name="Shape 26"/>
          <p:cNvSpPr/>
          <p:nvPr/>
        </p:nvSpPr>
        <p:spPr>
          <a:xfrm>
            <a:off x="5577840" y="2633472"/>
            <a:ext cx="64008" cy="713232"/>
          </a:xfrm>
          <a:prstGeom prst="rect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0" name="Text 27"/>
          <p:cNvSpPr/>
          <p:nvPr/>
        </p:nvSpPr>
        <p:spPr>
          <a:xfrm>
            <a:off x="5760720" y="263347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7 out of studies included (22%) suggest a reduction of RTCs involving pedestrians and animals during DST months — driven primarily by improved evening visibility</a:t>
            </a:r>
            <a:endParaRPr lang="en-US" sz="1600" dirty="0"/>
          </a:p>
        </p:txBody>
      </p:sp>
      <p:sp>
        <p:nvSpPr>
          <p:cNvPr id="31" name="Shape 28"/>
          <p:cNvSpPr/>
          <p:nvPr/>
        </p:nvSpPr>
        <p:spPr>
          <a:xfrm>
            <a:off x="5577840" y="3502152"/>
            <a:ext cx="64008" cy="713232"/>
          </a:xfrm>
          <a:prstGeom prst="rect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2" name="Text 29"/>
          <p:cNvSpPr/>
          <p:nvPr/>
        </p:nvSpPr>
        <p:spPr>
          <a:xfrm>
            <a:off x="5760720" y="350215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2 out of studies included (6%) suggest an increase in RTCs involving pedestrians and animals — primarily in morning hours when darkness increases</a:t>
            </a:r>
            <a:endParaRPr lang="en-US" sz="1600" dirty="0"/>
          </a:p>
        </p:txBody>
      </p:sp>
      <p:sp>
        <p:nvSpPr>
          <p:cNvPr id="33" name="Shape 30"/>
          <p:cNvSpPr/>
          <p:nvPr/>
        </p:nvSpPr>
        <p:spPr>
          <a:xfrm>
            <a:off x="5577840" y="4370832"/>
            <a:ext cx="64008" cy="713232"/>
          </a:xfrm>
          <a:prstGeom prst="rect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4" name="Text 31"/>
          <p:cNvSpPr/>
          <p:nvPr/>
        </p:nvSpPr>
        <p:spPr>
          <a:xfrm>
            <a:off x="5760720" y="437083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Morning vs Evening trade-off: DST shifts daylight to evening rush hour, reducing pedestrian risk at peak times but increasing risk for morning commuters</a:t>
            </a:r>
            <a:endParaRPr lang="en-US" sz="1600" dirty="0"/>
          </a:p>
        </p:txBody>
      </p:sp>
      <p:sp>
        <p:nvSpPr>
          <p:cNvPr id="35" name="Shape 32"/>
          <p:cNvSpPr/>
          <p:nvPr/>
        </p:nvSpPr>
        <p:spPr>
          <a:xfrm>
            <a:off x="5577840" y="5239512"/>
            <a:ext cx="64008" cy="713232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6" name="Text 33"/>
          <p:cNvSpPr/>
          <p:nvPr/>
        </p:nvSpPr>
        <p:spPr>
          <a:xfrm>
            <a:off x="5760720" y="523951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Pedestrian sub-group (6 studies): net benefit observed in long-term DST periods; some morning fatality increases noted (Coate &amp; Markowitz, 2004)</a:t>
            </a:r>
            <a:endParaRPr lang="en-US" sz="1600" dirty="0"/>
          </a:p>
        </p:txBody>
      </p:sp>
      <p:sp>
        <p:nvSpPr>
          <p:cNvPr id="37" name="Shape 34"/>
          <p:cNvSpPr/>
          <p:nvPr/>
        </p:nvSpPr>
        <p:spPr>
          <a:xfrm>
            <a:off x="5577840" y="6108192"/>
            <a:ext cx="64008" cy="713232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8" name="Text 35"/>
          <p:cNvSpPr/>
          <p:nvPr/>
        </p:nvSpPr>
        <p:spPr>
          <a:xfrm>
            <a:off x="5760720" y="6108192"/>
            <a:ext cx="5943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Animal-vehicle collisions: two studies show consistent reduction during DST months (Abeyrathna 2021; Cunningham 2022)</a:t>
            </a:r>
            <a:endParaRPr lang="en-US" sz="16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0A1628"/>
          </a:solidFill>
          <a:ln w="12700">
            <a:solidFill>
              <a:srgbClr val="0A1628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0" y="658368"/>
            <a:ext cx="12161520" cy="45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Text 2"/>
          <p:cNvSpPr/>
          <p:nvPr/>
        </p:nvSpPr>
        <p:spPr>
          <a:xfrm>
            <a:off x="36576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 &amp; Conclusions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8686800" y="0"/>
            <a:ext cx="32004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600" dirty="0">
                <a:solidFill>
                  <a:srgbClr val="7F8C8D"/>
                </a:solidFill>
              </a:rPr>
              <a:t>32 Studies · Literature Search · Gianluca Giusti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274320" y="822960"/>
            <a:ext cx="7132320" cy="5760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7" name="Shape 5"/>
          <p:cNvSpPr/>
          <p:nvPr/>
        </p:nvSpPr>
        <p:spPr>
          <a:xfrm>
            <a:off x="274320" y="822960"/>
            <a:ext cx="64008" cy="5760720"/>
          </a:xfrm>
          <a:prstGeom prst="rect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8" name="Text 6"/>
          <p:cNvSpPr/>
          <p:nvPr/>
        </p:nvSpPr>
        <p:spPr>
          <a:xfrm>
            <a:off x="502920" y="914400"/>
            <a:ext cx="6675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</a:rPr>
              <a:t>Overview: Study Findings Across All Analyses</a:t>
            </a:r>
            <a:endParaRPr lang="en-US" sz="1800" dirty="0"/>
          </a:p>
        </p:txBody>
      </p:sp>
      <p:graphicFrame>
        <p:nvGraphicFramePr>
          <p:cNvPr id="9" name="Chart 0"/>
          <p:cNvGraphicFramePr/>
          <p:nvPr>
            <p:extLst>
              <p:ext uri="{D42A27DB-BD31-4B8C-83A1-F6EECF244321}">
                <p14:modId xmlns:p14="http://schemas.microsoft.com/office/powerpoint/2010/main" val="781917210"/>
              </p:ext>
            </p:extLst>
          </p:nvPr>
        </p:nvGraphicFramePr>
        <p:xfrm>
          <a:off x="411480" y="1316736"/>
          <a:ext cx="6995160" cy="526694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0" name="Shape 7"/>
          <p:cNvSpPr/>
          <p:nvPr/>
        </p:nvSpPr>
        <p:spPr>
          <a:xfrm>
            <a:off x="7589520" y="822960"/>
            <a:ext cx="4297680" cy="5760720"/>
          </a:xfrm>
          <a:prstGeom prst="rect">
            <a:avLst/>
          </a:prstGeom>
          <a:solidFill>
            <a:srgbClr val="1A2E45"/>
          </a:solidFill>
          <a:ln w="12700">
            <a:solidFill>
              <a:srgbClr val="1E3250"/>
            </a:solidFill>
            <a:prstDash val="solid"/>
          </a:ln>
          <a:effectLst>
            <a:outerShdw blurRad="76200" dist="25400" dir="8100000" algn="bl" rotWithShape="0">
              <a:srgbClr val="000000">
                <a:alpha val="20000"/>
              </a:srgbClr>
            </a:outerShdw>
          </a:effectLst>
        </p:spPr>
        <p:txBody>
          <a:bodyPr/>
          <a:lstStyle/>
          <a:p>
            <a:endParaRPr lang="en-GB"/>
          </a:p>
        </p:txBody>
      </p:sp>
      <p:sp>
        <p:nvSpPr>
          <p:cNvPr id="11" name="Shape 8"/>
          <p:cNvSpPr/>
          <p:nvPr/>
        </p:nvSpPr>
        <p:spPr>
          <a:xfrm>
            <a:off x="7589520" y="822960"/>
            <a:ext cx="64008" cy="576072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2" name="Text 9"/>
          <p:cNvSpPr/>
          <p:nvPr/>
        </p:nvSpPr>
        <p:spPr>
          <a:xfrm>
            <a:off x="7818120" y="914400"/>
            <a:ext cx="3840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FFFFFF"/>
                </a:solidFill>
              </a:rPr>
              <a:t>Conclusions</a:t>
            </a:r>
            <a:endParaRPr lang="en-US" sz="1900" dirty="0"/>
          </a:p>
        </p:txBody>
      </p:sp>
      <p:sp>
        <p:nvSpPr>
          <p:cNvPr id="13" name="Shape 10"/>
          <p:cNvSpPr/>
          <p:nvPr/>
        </p:nvSpPr>
        <p:spPr>
          <a:xfrm>
            <a:off x="7726680" y="1417320"/>
            <a:ext cx="384048" cy="384048"/>
          </a:xfrm>
          <a:prstGeom prst="ellipse">
            <a:avLst/>
          </a:prstGeom>
          <a:solidFill>
            <a:srgbClr val="E74C3C"/>
          </a:solidFill>
          <a:ln w="12700">
            <a:solidFill>
              <a:srgbClr val="E74C3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4" name="Text 11"/>
          <p:cNvSpPr/>
          <p:nvPr/>
        </p:nvSpPr>
        <p:spPr>
          <a:xfrm>
            <a:off x="7726680" y="14173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1</a:t>
            </a:r>
            <a:endParaRPr lang="en-US" sz="1700" dirty="0"/>
          </a:p>
        </p:txBody>
      </p:sp>
      <p:sp>
        <p:nvSpPr>
          <p:cNvPr id="15" name="Text 12"/>
          <p:cNvSpPr/>
          <p:nvPr/>
        </p:nvSpPr>
        <p:spPr>
          <a:xfrm>
            <a:off x="8275320" y="132588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Short-term Spring: Evidence leans toward ↑ RTCs (50%) — consistent with sleep disruption hypothesis</a:t>
            </a:r>
            <a:endParaRPr lang="en-US" sz="1600" dirty="0"/>
          </a:p>
        </p:txBody>
      </p:sp>
      <p:sp>
        <p:nvSpPr>
          <p:cNvPr id="16" name="Shape 13"/>
          <p:cNvSpPr/>
          <p:nvPr/>
        </p:nvSpPr>
        <p:spPr>
          <a:xfrm>
            <a:off x="7726680" y="2313432"/>
            <a:ext cx="384048" cy="384048"/>
          </a:xfrm>
          <a:prstGeom prst="ellipse">
            <a:avLst/>
          </a:prstGeom>
          <a:solidFill>
            <a:srgbClr val="7F8C8D"/>
          </a:solidFill>
          <a:ln w="12700">
            <a:solidFill>
              <a:srgbClr val="7F8C8D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17" name="Text 14"/>
          <p:cNvSpPr/>
          <p:nvPr/>
        </p:nvSpPr>
        <p:spPr>
          <a:xfrm>
            <a:off x="7726680" y="231343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2</a:t>
            </a:r>
            <a:endParaRPr lang="en-US" sz="1700" dirty="0"/>
          </a:p>
        </p:txBody>
      </p:sp>
      <p:sp>
        <p:nvSpPr>
          <p:cNvPr id="18" name="Text 15"/>
          <p:cNvSpPr/>
          <p:nvPr/>
        </p:nvSpPr>
        <p:spPr>
          <a:xfrm>
            <a:off x="8275320" y="2221992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Short-term Autumn: Majority (58%) show no change — less disruptive transition</a:t>
            </a:r>
            <a:endParaRPr lang="en-US" sz="1600" dirty="0"/>
          </a:p>
        </p:txBody>
      </p:sp>
      <p:sp>
        <p:nvSpPr>
          <p:cNvPr id="19" name="Shape 16"/>
          <p:cNvSpPr/>
          <p:nvPr/>
        </p:nvSpPr>
        <p:spPr>
          <a:xfrm>
            <a:off x="7726680" y="3209544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0" name="Text 17"/>
          <p:cNvSpPr/>
          <p:nvPr/>
        </p:nvSpPr>
        <p:spPr>
          <a:xfrm>
            <a:off x="7726680" y="320954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3</a:t>
            </a:r>
            <a:endParaRPr lang="en-US" sz="1700" dirty="0"/>
          </a:p>
        </p:txBody>
      </p:sp>
      <p:sp>
        <p:nvSpPr>
          <p:cNvPr id="21" name="Text 18"/>
          <p:cNvSpPr/>
          <p:nvPr/>
        </p:nvSpPr>
        <p:spPr>
          <a:xfrm>
            <a:off x="8275320" y="3118104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Long-term: Majority (53%) show ↓ RTCs in DST months — supports benefit of extended evening daylight</a:t>
            </a:r>
            <a:endParaRPr lang="en-US" sz="1600" dirty="0"/>
          </a:p>
        </p:txBody>
      </p:sp>
      <p:sp>
        <p:nvSpPr>
          <p:cNvPr id="22" name="Shape 19"/>
          <p:cNvSpPr/>
          <p:nvPr/>
        </p:nvSpPr>
        <p:spPr>
          <a:xfrm>
            <a:off x="7726680" y="4105656"/>
            <a:ext cx="384048" cy="384048"/>
          </a:xfrm>
          <a:prstGeom prst="ellipse">
            <a:avLst/>
          </a:prstGeom>
          <a:solidFill>
            <a:srgbClr val="27AE60"/>
          </a:solidFill>
          <a:ln w="12700">
            <a:solidFill>
              <a:srgbClr val="27AE60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3" name="Text 20"/>
          <p:cNvSpPr/>
          <p:nvPr/>
        </p:nvSpPr>
        <p:spPr>
          <a:xfrm>
            <a:off x="7726680" y="410565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4</a:t>
            </a:r>
            <a:endParaRPr lang="en-US" sz="1700" dirty="0"/>
          </a:p>
        </p:txBody>
      </p:sp>
      <p:sp>
        <p:nvSpPr>
          <p:cNvPr id="24" name="Text 21"/>
          <p:cNvSpPr/>
          <p:nvPr/>
        </p:nvSpPr>
        <p:spPr>
          <a:xfrm>
            <a:off x="8275320" y="4014216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Permanent DST models: All 5 extrapolation studies predict net reduction in accidents and fatalities</a:t>
            </a:r>
            <a:endParaRPr lang="en-US" sz="1600" dirty="0"/>
          </a:p>
        </p:txBody>
      </p:sp>
      <p:sp>
        <p:nvSpPr>
          <p:cNvPr id="25" name="Shape 22"/>
          <p:cNvSpPr/>
          <p:nvPr/>
        </p:nvSpPr>
        <p:spPr>
          <a:xfrm>
            <a:off x="7726680" y="5001768"/>
            <a:ext cx="384048" cy="384048"/>
          </a:xfrm>
          <a:prstGeom prst="ellipse">
            <a:avLst/>
          </a:prstGeom>
          <a:solidFill>
            <a:srgbClr val="F39C12"/>
          </a:solidFill>
          <a:ln w="12700">
            <a:solidFill>
              <a:srgbClr val="F39C12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6" name="Text 23"/>
          <p:cNvSpPr/>
          <p:nvPr/>
        </p:nvSpPr>
        <p:spPr>
          <a:xfrm>
            <a:off x="7726680" y="500176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5</a:t>
            </a:r>
            <a:endParaRPr lang="en-US" sz="1700" dirty="0"/>
          </a:p>
        </p:txBody>
      </p:sp>
      <p:sp>
        <p:nvSpPr>
          <p:cNvPr id="27" name="Text 24"/>
          <p:cNvSpPr/>
          <p:nvPr/>
        </p:nvSpPr>
        <p:spPr>
          <a:xfrm>
            <a:off x="8275320" y="4910328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Level of evidence: Predominantly Level 4 (retrospective observational) — limits causal conclusions</a:t>
            </a:r>
            <a:endParaRPr lang="en-US" sz="1600" dirty="0"/>
          </a:p>
        </p:txBody>
      </p:sp>
      <p:sp>
        <p:nvSpPr>
          <p:cNvPr id="28" name="Shape 25"/>
          <p:cNvSpPr/>
          <p:nvPr/>
        </p:nvSpPr>
        <p:spPr>
          <a:xfrm>
            <a:off x="7726680" y="5897880"/>
            <a:ext cx="384048" cy="384048"/>
          </a:xfrm>
          <a:prstGeom prst="ellipse">
            <a:avLst/>
          </a:prstGeom>
          <a:solidFill>
            <a:srgbClr val="2980B9"/>
          </a:solidFill>
          <a:ln w="12700">
            <a:solidFill>
              <a:srgbClr val="2980B9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29" name="Text 26"/>
          <p:cNvSpPr/>
          <p:nvPr/>
        </p:nvSpPr>
        <p:spPr>
          <a:xfrm>
            <a:off x="7726680" y="58978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FFFFFF"/>
                </a:solidFill>
              </a:rPr>
              <a:t>6</a:t>
            </a:r>
            <a:endParaRPr lang="en-US" sz="1700" dirty="0"/>
          </a:p>
        </p:txBody>
      </p:sp>
      <p:sp>
        <p:nvSpPr>
          <p:cNvPr id="30" name="Text 27"/>
          <p:cNvSpPr/>
          <p:nvPr/>
        </p:nvSpPr>
        <p:spPr>
          <a:xfrm>
            <a:off x="8275320" y="5806440"/>
            <a:ext cx="342900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ECF0F1"/>
                </a:solidFill>
              </a:rPr>
              <a:t>Heterogeneity in methods, populations, and time windows limits direct comparison across studies</a:t>
            </a:r>
            <a:endParaRPr lang="en-US" sz="16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3" name="Shape 1"/>
          <p:cNvSpPr/>
          <p:nvPr/>
        </p:nvSpPr>
        <p:spPr>
          <a:xfrm>
            <a:off x="9144000" y="-1371600"/>
            <a:ext cx="4572000" cy="4572000"/>
          </a:xfrm>
          <a:prstGeom prst="ellipse">
            <a:avLst/>
          </a:prstGeom>
          <a:solidFill>
            <a:srgbClr val="1ABC9C">
              <a:alpha val="12000"/>
            </a:srgbClr>
          </a:solidFill>
          <a:ln w="12700">
            <a:solidFill>
              <a:srgbClr val="1ABC9C">
                <a:alpha val="12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4" name="Shape 2"/>
          <p:cNvSpPr/>
          <p:nvPr/>
        </p:nvSpPr>
        <p:spPr>
          <a:xfrm>
            <a:off x="-914400" y="5029200"/>
            <a:ext cx="3657600" cy="3657600"/>
          </a:xfrm>
          <a:prstGeom prst="ellipse">
            <a:avLst/>
          </a:prstGeom>
          <a:solidFill>
            <a:srgbClr val="132337">
              <a:alpha val="70000"/>
            </a:srgbClr>
          </a:solidFill>
          <a:ln w="12700">
            <a:solidFill>
              <a:srgbClr val="132337">
                <a:alpha val="70000"/>
              </a:srgbClr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  <p:sp>
        <p:nvSpPr>
          <p:cNvPr id="5" name="Text 3"/>
          <p:cNvSpPr/>
          <p:nvPr/>
        </p:nvSpPr>
        <p:spPr>
          <a:xfrm>
            <a:off x="548640" y="1645920"/>
            <a:ext cx="73152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548640" y="274320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dirty="0">
                <a:solidFill>
                  <a:srgbClr val="1ABC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3000" dirty="0"/>
          </a:p>
        </p:txBody>
      </p:sp>
      <p:sp>
        <p:nvSpPr>
          <p:cNvPr id="7" name="Shape 5"/>
          <p:cNvSpPr/>
          <p:nvPr/>
        </p:nvSpPr>
        <p:spPr>
          <a:xfrm>
            <a:off x="548640" y="3520440"/>
            <a:ext cx="5029200" cy="36576"/>
          </a:xfrm>
          <a:prstGeom prst="rect">
            <a:avLst/>
          </a:prstGeom>
          <a:solidFill>
            <a:srgbClr val="1ABC9C"/>
          </a:solidFill>
          <a:ln w="12700">
            <a:solidFill>
              <a:srgbClr val="1ABC9C"/>
            </a:solidFill>
            <a:prstDash val="solid"/>
          </a:ln>
        </p:spPr>
        <p:txBody>
          <a:bodyPr/>
          <a:lstStyle/>
          <a:p>
            <a:endParaRPr lang="en-GB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975</Words>
  <Application>Microsoft Office PowerPoint</Application>
  <PresentationFormat>Widescreen</PresentationFormat>
  <Paragraphs>218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Giusti, Gianluca Dr (PG/R - Sch of Biosciences)</cp:lastModifiedBy>
  <cp:revision>4</cp:revision>
  <dcterms:created xsi:type="dcterms:W3CDTF">2026-03-18T10:04:23Z</dcterms:created>
  <dcterms:modified xsi:type="dcterms:W3CDTF">2026-03-18T10:59:58Z</dcterms:modified>
</cp:coreProperties>
</file>