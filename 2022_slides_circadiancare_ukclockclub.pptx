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CircadianCare (n=25)</c:v>
                </c:pt>
              </c:strCache>
            </c:strRef>
          </c:tx>
          <c:spPr>
            <a:ln w="38100" cap="flat">
              <a:solidFill>
                <a:srgbClr val="1D5F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5FA8"/>
              </a:solidFill>
              <a:ln w="9525" cap="flat">
                <a:solidFill>
                  <a:srgbClr val="1D5FA8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T0 Baseline</c:v>
                </c:pt>
                <c:pt idx="1">
                  <c:v>T1 (Day 7)</c:v>
                </c:pt>
                <c:pt idx="2">
                  <c:v>T2 (Discharge)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0.35</c:v>
                </c:pt>
                <c:pt idx="1">
                  <c:v>-0.25</c:v>
                </c:pt>
                <c:pt idx="2">
                  <c:v>-0.1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D8-4007-96B9-F1D30F6407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 of Care (n=25)</c:v>
                </c:pt>
              </c:strCache>
            </c:strRef>
          </c:tx>
          <c:spPr>
            <a:ln w="38100" cap="flat">
              <a:solidFill>
                <a:srgbClr val="D95F0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F02"/>
              </a:solidFill>
              <a:ln w="9525" cap="flat">
                <a:solidFill>
                  <a:srgbClr val="D95F02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T0 Baseline</c:v>
                </c:pt>
                <c:pt idx="1">
                  <c:v>T1 (Day 7)</c:v>
                </c:pt>
                <c:pt idx="2">
                  <c:v>T2 (Discharge)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D8-4007-96B9-F1D30F6407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CircadianCare</c:v>
                </c:pt>
              </c:strCache>
            </c:strRef>
          </c:tx>
          <c:spPr>
            <a:ln w="38100" cap="flat">
              <a:solidFill>
                <a:srgbClr val="1D5F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5FA8"/>
              </a:solidFill>
              <a:ln w="9525" cap="flat">
                <a:solidFill>
                  <a:srgbClr val="1D5FA8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T0</c:v>
                </c:pt>
                <c:pt idx="1">
                  <c:v>T1 (Day 7)</c:v>
                </c:pt>
                <c:pt idx="2">
                  <c:v>T2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</c:v>
                </c:pt>
                <c:pt idx="1">
                  <c:v>8.6</c:v>
                </c:pt>
                <c:pt idx="2">
                  <c:v>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8A-4A42-B11D-F4235EAE7D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 of Care</c:v>
                </c:pt>
              </c:strCache>
            </c:strRef>
          </c:tx>
          <c:spPr>
            <a:ln w="38100" cap="flat">
              <a:solidFill>
                <a:srgbClr val="D95F0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F02"/>
              </a:solidFill>
              <a:ln w="9525" cap="flat">
                <a:solidFill>
                  <a:srgbClr val="D95F02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Sheet1!$A$2:$A$4</c:f>
              <c:strCache>
                <c:ptCount val="3"/>
                <c:pt idx="0">
                  <c:v>T0</c:v>
                </c:pt>
                <c:pt idx="1">
                  <c:v>T1 (Day 7)</c:v>
                </c:pt>
                <c:pt idx="2">
                  <c:v>T2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7.9</c:v>
                </c:pt>
                <c:pt idx="1">
                  <c:v>7.7</c:v>
                </c:pt>
                <c:pt idx="2">
                  <c:v>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8A-4A42-B11D-F4235EAE7D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Morning · SoC</c:v>
                </c:pt>
              </c:strCache>
            </c:strRef>
          </c:tx>
          <c:spPr>
            <a:solidFill>
              <a:srgbClr val="1A9988"/>
            </a:solidFill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T0→T1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B9-48BA-AF52-1DAD22D26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Intermediate · SoC</c:v>
                </c:pt>
              </c:strCache>
            </c:strRef>
          </c:tx>
          <c:spPr>
            <a:solidFill>
              <a:srgbClr val="E6A817"/>
            </a:solidFill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T0→T1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B9-48BA-AF52-1DAD22D26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Morning · CC</c:v>
                </c:pt>
              </c:strCache>
            </c:strRef>
          </c:tx>
          <c:spPr>
            <a:solidFill>
              <a:srgbClr val="1D5FA8"/>
            </a:solidFill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T0→T1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B9-48BA-AF52-1DAD22D264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Intermediate · CC</c:v>
                </c:pt>
              </c:strCache>
            </c:strRef>
          </c:tx>
          <c:spPr>
            <a:solidFill>
              <a:srgbClr val="8BBCF0"/>
            </a:solidFill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T0→T1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3B9-48BA-AF52-1DAD22D264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5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Morning · SoC</c:v>
                </c:pt>
              </c:strCache>
            </c:strRef>
          </c:tx>
          <c:spPr>
            <a:solidFill>
              <a:srgbClr val="1A9988"/>
            </a:solidFill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T0→T1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FB-4E0A-B034-F65CD8F74C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Intermediate · SoC</c:v>
                </c:pt>
              </c:strCache>
            </c:strRef>
          </c:tx>
          <c:spPr>
            <a:solidFill>
              <a:srgbClr val="E6A817"/>
            </a:solidFill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T0→T1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FB-4E0A-B034-F65CD8F74C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Morning · CC</c:v>
                </c:pt>
              </c:strCache>
            </c:strRef>
          </c:tx>
          <c:spPr>
            <a:solidFill>
              <a:srgbClr val="1D5FA8"/>
            </a:solidFill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T0→T1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FB-4E0A-B034-F65CD8F74C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Intermediate · CC</c:v>
                </c:pt>
              </c:strCache>
            </c:strRef>
          </c:tx>
          <c:spPr>
            <a:solidFill>
              <a:srgbClr val="8BBCF0"/>
            </a:solidFill>
            <a:effectLst/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T0→T1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FB-4E0A-B034-F65CD8F74C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5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T0 Baseline</c:v>
                </c:pt>
              </c:strCache>
            </c:strRef>
          </c:tx>
          <c:spPr>
            <a:ln w="38100" cap="flat">
              <a:solidFill>
                <a:srgbClr val="4755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19:00</c:v>
                </c:pt>
                <c:pt idx="1">
                  <c:v>20:00</c:v>
                </c:pt>
                <c:pt idx="2">
                  <c:v>21:00</c:v>
                </c:pt>
                <c:pt idx="3">
                  <c:v>22:00</c:v>
                </c:pt>
                <c:pt idx="4">
                  <c:v>23:00</c:v>
                </c:pt>
                <c:pt idx="5">
                  <c:v>00:00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1.8</c:v>
                </c:pt>
                <c:pt idx="2">
                  <c:v>3.5</c:v>
                </c:pt>
                <c:pt idx="3">
                  <c:v>8.1999999999999993</c:v>
                </c:pt>
                <c:pt idx="4">
                  <c:v>14.6</c:v>
                </c:pt>
                <c:pt idx="5">
                  <c:v>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AA0-4F73-8B51-3A48C120F7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T1 (Day 7)</c:v>
                </c:pt>
              </c:strCache>
            </c:strRef>
          </c:tx>
          <c:spPr>
            <a:ln w="38100" cap="flat">
              <a:solidFill>
                <a:srgbClr val="D95F0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F02"/>
              </a:solidFill>
              <a:ln w="9525" cap="flat">
                <a:solidFill>
                  <a:srgbClr val="D95F0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19:00</c:v>
                </c:pt>
                <c:pt idx="1">
                  <c:v>20:00</c:v>
                </c:pt>
                <c:pt idx="2">
                  <c:v>21:00</c:v>
                </c:pt>
                <c:pt idx="3">
                  <c:v>22:00</c:v>
                </c:pt>
                <c:pt idx="4">
                  <c:v>23:00</c:v>
                </c:pt>
                <c:pt idx="5">
                  <c:v>00:00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1.8</c:v>
                </c:pt>
                <c:pt idx="1">
                  <c:v>4.2</c:v>
                </c:pt>
                <c:pt idx="2">
                  <c:v>9.5</c:v>
                </c:pt>
                <c:pt idx="3">
                  <c:v>16</c:v>
                </c:pt>
                <c:pt idx="4">
                  <c:v>20.5</c:v>
                </c:pt>
                <c:pt idx="5">
                  <c:v>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AA0-4F73-8B51-3A48C120F7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T2 (Discharge)</c:v>
                </c:pt>
              </c:strCache>
            </c:strRef>
          </c:tx>
          <c:spPr>
            <a:ln w="38100" cap="flat">
              <a:solidFill>
                <a:srgbClr val="1D5F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5FA8"/>
              </a:solidFill>
              <a:ln w="9525" cap="flat">
                <a:solidFill>
                  <a:srgbClr val="1D5F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19:00</c:v>
                </c:pt>
                <c:pt idx="1">
                  <c:v>20:00</c:v>
                </c:pt>
                <c:pt idx="2">
                  <c:v>21:00</c:v>
                </c:pt>
                <c:pt idx="3">
                  <c:v>22:00</c:v>
                </c:pt>
                <c:pt idx="4">
                  <c:v>23:00</c:v>
                </c:pt>
                <c:pt idx="5">
                  <c:v>00:00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5.5</c:v>
                </c:pt>
                <c:pt idx="2">
                  <c:v>11.2</c:v>
                </c:pt>
                <c:pt idx="3">
                  <c:v>17.8</c:v>
                </c:pt>
                <c:pt idx="4">
                  <c:v>21.5</c:v>
                </c:pt>
                <c:pt idx="5">
                  <c:v>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AA0-4F73-8B51-3A48C120F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Window</c:v>
                </c:pt>
              </c:strCache>
            </c:strRef>
          </c:tx>
          <c:spPr>
            <a:solidFill>
              <a:srgbClr val="E6A8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234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07–10:30</c:v>
                </c:pt>
                <c:pt idx="1">
                  <c:v>12–14:00</c:v>
                </c:pt>
                <c:pt idx="2">
                  <c:v>14:30–17</c:v>
                </c:pt>
                <c:pt idx="3">
                  <c:v>17:30–21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515</c:v>
                </c:pt>
                <c:pt idx="1">
                  <c:v>636</c:v>
                </c:pt>
                <c:pt idx="2">
                  <c:v>309</c:v>
                </c:pt>
                <c:pt idx="3">
                  <c:v>234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B4-4BC4-84DC-F000A3AAB2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Far from Window</c:v>
                </c:pt>
              </c:strCache>
            </c:strRef>
          </c:tx>
          <c:spPr>
            <a:solidFill>
              <a:srgbClr val="D95F0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234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07–10:30</c:v>
                </c:pt>
                <c:pt idx="1">
                  <c:v>12–14:00</c:v>
                </c:pt>
                <c:pt idx="2">
                  <c:v>14:30–17</c:v>
                </c:pt>
                <c:pt idx="3">
                  <c:v>17:30–21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268</c:v>
                </c:pt>
                <c:pt idx="1">
                  <c:v>311</c:v>
                </c:pt>
                <c:pt idx="2">
                  <c:v>192</c:v>
                </c:pt>
                <c:pt idx="3">
                  <c:v>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B4-4BC4-84DC-F000A3AAB2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5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Night Awakenings</c:v>
                </c:pt>
              </c:strCache>
            </c:strRef>
          </c:tx>
          <c:spPr>
            <a:solidFill>
              <a:srgbClr val="1A7A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A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93-410E-B0DB-8FE8EF85BEBF}"/>
              </c:ext>
            </c:extLst>
          </c:dPt>
          <c:dPt>
            <c:idx val="1"/>
            <c:invertIfNegative val="0"/>
            <c:bubble3D val="0"/>
            <c:spPr>
              <a:solidFill>
                <a:srgbClr val="E6A8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93-410E-B0DB-8FE8EF85BEBF}"/>
              </c:ext>
            </c:extLst>
          </c:dPt>
          <c:dPt>
            <c:idx val="2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93-410E-B0DB-8FE8EF85BEBF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Low noise
(&lt;40 dB)</c:v>
                </c:pt>
                <c:pt idx="1">
                  <c:v>Moderate
(40–55 dB)</c:v>
                </c:pt>
                <c:pt idx="2">
                  <c:v>High noise
(&gt;55 dB)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2.8</c:v>
                </c:pt>
                <c:pt idx="2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E93-410E-B0DB-8FE8EF85BE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77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966960" y="0"/>
            <a:ext cx="2194560" cy="68580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-950393" y="1243584"/>
            <a:ext cx="83142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5FA8"/>
                </a:solidFill>
              </a:rPr>
              <a:t>RANDOMISED CONTROLLED TRIAL  ·  Cambridge Clock Club 2023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9235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Circadian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Due to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Hospitalisation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3749040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5FA8"/>
                </a:solidFill>
              </a:rPr>
              <a:t>CircadianCare Inpatient Management System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1480" y="4526280"/>
            <a:ext cx="5943600" cy="502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4709160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34155"/>
                </a:solidFill>
              </a:rPr>
              <a:t>Mangini C, Zarantonello L, Formentin C, Giusti G et al.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512064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University of Padova, Italy  ·  University of Surrey, UK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11480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058400" y="411480"/>
            <a:ext cx="1828800" cy="82296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058400" y="52120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5FA8"/>
                </a:solidFill>
              </a:rPr>
              <a:t>50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058400" y="11795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40"/>
                </a:solidFill>
              </a:rPr>
              <a:t>Patients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Randomised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0" y="1984248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058400" y="1984248"/>
            <a:ext cx="1828800" cy="82296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058400" y="20939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5FA8"/>
                </a:solidFill>
              </a:rPr>
              <a:t>RCT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0" y="27523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40"/>
                </a:solidFill>
              </a:rPr>
              <a:t>Design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Parallel arm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58400" y="3557016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058400" y="3557016"/>
            <a:ext cx="1828800" cy="82296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0058400" y="36667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5FA8"/>
                </a:solidFill>
              </a:rPr>
              <a:t>9–10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058400" y="43251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40"/>
                </a:solidFill>
              </a:rPr>
              <a:t>Days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Avg. stay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058400" y="5129784"/>
            <a:ext cx="1828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058400" y="5129784"/>
            <a:ext cx="1828800" cy="82296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058400" y="52395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5FA8"/>
                </a:solidFill>
              </a:rPr>
              <a:t>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0058400" y="5897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40"/>
                </a:solidFill>
              </a:rPr>
              <a:t>Timepoints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058400" y="6208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T0 · T1 · T2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1480" y="6035040"/>
            <a:ext cx="274320" cy="27432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77240" y="6035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5FA8"/>
                </a:solidFill>
              </a:rPr>
              <a:t>CircadianCare (n=25)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886200" y="6035040"/>
            <a:ext cx="274320" cy="27432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251960" y="6035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F02"/>
                </a:solidFill>
              </a:rPr>
              <a:t>Standard of Care (n=25)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BACKGROUND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1612880" cy="146304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161288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024128"/>
            <a:ext cx="11155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Hospitalised patients suffer strong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 misalignment &amp; sleep disruption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374904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82296" cy="292608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5FA8"/>
                </a:solidFill>
              </a:rPr>
              <a:t>Acute illness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400507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The disease itself disrupts normal sleep-wake cycles and hormonal rhythms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251960" y="2651760"/>
            <a:ext cx="374904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251960" y="2651760"/>
            <a:ext cx="82296" cy="292608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4805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480560" y="3493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5F02"/>
                </a:solidFill>
              </a:rPr>
              <a:t>Unusual environment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80560" y="400507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Hospital noise, light at night, and temperature fluctuations fragment sleep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29600" y="2651760"/>
            <a:ext cx="3749040" cy="2926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229600" y="2651760"/>
            <a:ext cx="82296" cy="2926080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4582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458200" y="349300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9988"/>
                </a:solidFill>
              </a:rPr>
              <a:t>Irregular timing cues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58200" y="4005072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Meals, light exposure and physical activity happen at non-optimal times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74320" y="5742432"/>
            <a:ext cx="1161288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57424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→  The CircadianCare system targets all three causes with personalised, evidence-based interventions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5FA8"/>
                </a:solidFill>
              </a:rPr>
              <a:t>50 patients · Randomised · Parallel arm · Internal Medicine Ward, Padova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566928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2296" cy="192024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5FA8"/>
                </a:solidFill>
              </a:rPr>
              <a:t>CircadianCare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D5FA8"/>
                </a:solidFill>
              </a:rPr>
              <a:t>n = 25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18 males · Age 62.4 ± 1.9 yrs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63640" y="1627632"/>
            <a:ext cx="566928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263640" y="1627632"/>
            <a:ext cx="82296" cy="192024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92240" y="17190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5F02"/>
                </a:solidFill>
              </a:rPr>
              <a:t>Standard of Care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224028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5F02"/>
                </a:solidFill>
              </a:rPr>
              <a:t>n = 25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92240" y="285292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14 males · Age 64.5 ± 2.3 yrs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</a:rPr>
              <a:t>STUDY TIMELINE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2148840" cy="1508760"/>
          </a:xfrm>
          <a:prstGeom prst="rect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423160" y="4864608"/>
            <a:ext cx="1828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</a:rPr>
              <a:t>Enrolment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Day 0–2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606040" y="4160520"/>
            <a:ext cx="2148840" cy="1508760"/>
          </a:xfrm>
          <a:prstGeom prst="rect">
            <a:avLst/>
          </a:prstGeom>
          <a:solidFill>
            <a:srgbClr val="1D5FA8">
              <a:alpha val="15000"/>
            </a:srgbClr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754880" y="4864608"/>
            <a:ext cx="1828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697480" y="4251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5FA8"/>
                </a:solidFill>
              </a:rPr>
              <a:t>T0 Baseline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697480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Day 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937760" y="4160520"/>
            <a:ext cx="2148840" cy="1508760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7086600" y="4864608"/>
            <a:ext cx="1828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29200" y="4251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Treatment / SoC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029200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7 days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269480" y="4160520"/>
            <a:ext cx="2148840" cy="1508760"/>
          </a:xfrm>
          <a:prstGeom prst="rect">
            <a:avLst/>
          </a:prstGeom>
          <a:solidFill>
            <a:srgbClr val="1D5FA8">
              <a:alpha val="15000"/>
            </a:srgbClr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9418320" y="4864608"/>
            <a:ext cx="1828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360920" y="4251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5FA8"/>
                </a:solidFill>
              </a:rPr>
              <a:t>T1 Follow-up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60920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Day 7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601200" y="4160520"/>
            <a:ext cx="2148840" cy="1508760"/>
          </a:xfrm>
          <a:prstGeom prst="rect">
            <a:avLst/>
          </a:prstGeom>
          <a:solidFill>
            <a:srgbClr val="475569">
              <a:alpha val="15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9692640" y="4251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</a:rPr>
              <a:t>T2 Discharge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692640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Day 9–10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74320" y="580644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4748B"/>
                </a:solidFill>
              </a:rPr>
              <a:t>Enrolled within 48h of admission to acute medical ward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CircadianCare: What the Treatment Arm Received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1D5FA8"/>
                </a:solidFill>
              </a:rPr>
              <a:t>Timing personalised to chronotype  (Morning · Intermediate · Evening — MEQ score)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3749040" cy="19979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2296" cy="1997964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A817"/>
                </a:solidFill>
              </a:rPr>
              <a:t>Morning Light Therapy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Blue-light glasses for 45 min after waking → advances circadian phase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51960" y="1627632"/>
            <a:ext cx="3749040" cy="19979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251960" y="1627632"/>
            <a:ext cx="82296" cy="19979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434840" y="17647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🌙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348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</a:rPr>
              <a:t>Evening Light Filter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29077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Short-wavelength blocking shades from early evening → protects melatonin onset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9600" y="1627632"/>
            <a:ext cx="3749040" cy="19979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229600" y="1627632"/>
            <a:ext cx="82296" cy="1997964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412480" y="17647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🍽️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41248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9988"/>
                </a:solidFill>
              </a:rPr>
              <a:t>Personalised Meal Timing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0" y="29077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Breakfast, lunch, dinner scheduled per chronotype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3767328"/>
            <a:ext cx="571500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82296" cy="192024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02920" y="39044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🚶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02920" y="454456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FA8"/>
                </a:solidFill>
              </a:rPr>
              <a:t>Activity Scheduling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" y="504748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Active or passive physiotherapy timed to reinforce daytime activity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63640" y="3767328"/>
            <a:ext cx="5715000" cy="1920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263640" y="3767328"/>
            <a:ext cx="82296" cy="19202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492240" y="39044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🪟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492240" y="454456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5569"/>
                </a:solidFill>
              </a:rPr>
              <a:t>Rolling Shutter Policy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92240" y="504748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Enforced blinds: max daylight during day, darkness overnight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34155"/>
                </a:solidFill>
              </a:rPr>
              <a:t>Both arms assessed identically at T0, T1 and T2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2788920" cy="48463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82296" cy="484632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FA8"/>
                </a:solidFill>
              </a:rPr>
              <a:t>Sleep Diary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242316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Bedtime &amp; wake-up time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Time in bed, awakenings, naps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Completed daily throughout stay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246120" y="1572768"/>
            <a:ext cx="2788920" cy="48463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46120" y="1572768"/>
            <a:ext cx="82296" cy="4846320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429000" y="16642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⌚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2900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9988"/>
                </a:solidFill>
              </a:rPr>
              <a:t>Actigraphy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29000" y="2962656"/>
            <a:ext cx="2423160" cy="50292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429000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Wrist-worn activity monitor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29000" y="3749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Records wakefulness &amp; light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29000" y="4434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Yields: wake-up, midsleep, efficiency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17920" y="1572768"/>
            <a:ext cx="2788920" cy="48463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217920" y="1572768"/>
            <a:ext cx="82296" cy="484632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400800" y="16642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5F02"/>
                </a:solidFill>
              </a:rPr>
              <a:t>Salivary Melatonin (DLMO)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00800" y="2962656"/>
            <a:ext cx="2423160" cy="5029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400800" y="3225887"/>
            <a:ext cx="26060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5 hourly samples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3h before sleep onset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0" y="4108963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Radioimmunoassay (LOD 0.3 pg/mL)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5074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Calculates Dim Light Melatonin Onset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189720" y="1572768"/>
            <a:ext cx="2788920" cy="48463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9189720" y="1572768"/>
            <a:ext cx="82296" cy="4846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372600" y="16642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37260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5569"/>
                </a:solidFill>
              </a:rPr>
              <a:t>Environmental Monitoring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372600" y="2962656"/>
            <a:ext cx="2423160" cy="502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9372600" y="313133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Room illuminance (Lux) by position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372600" y="4031151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Noise levels (fluctuating + background)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372600" y="4911503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·  Room &amp; skin temperature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943584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CircadianCare showed positive effects on sleep timing and circadian phase in </a:t>
            </a:r>
            <a:r>
              <a:rPr lang="en-US" sz="2800" b="1" dirty="0" err="1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CircadianCare</a:t>
            </a:r>
            <a:r>
              <a:rPr lang="en-US" sz="2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24028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2240280" cy="7315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32262" y="1879720"/>
            <a:ext cx="2011680" cy="1549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" sz="20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advance in bed time </a:t>
            </a:r>
            <a:r>
              <a:rPr lang="it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and an increase in number of hours spent in bed in Treated p.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51760" y="1691640"/>
            <a:ext cx="224028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651760" y="1691640"/>
            <a:ext cx="2240280" cy="73152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88920" y="1879720"/>
            <a:ext cx="2011680" cy="1549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/>
              <a:t>Delay</a:t>
            </a:r>
            <a:r>
              <a:rPr lang="en-US" sz="2000" dirty="0"/>
              <a:t> </a:t>
            </a:r>
            <a:r>
              <a:rPr lang="en-US" sz="2000" b="1" dirty="0"/>
              <a:t>midsleep</a:t>
            </a:r>
            <a:r>
              <a:rPr lang="en-US" sz="2000" dirty="0"/>
              <a:t> in Standard of care arm, limited to intermediate chronotype</a:t>
            </a:r>
          </a:p>
        </p:txBody>
      </p:sp>
      <p:sp>
        <p:nvSpPr>
          <p:cNvPr id="18" name="Shape 16"/>
          <p:cNvSpPr/>
          <p:nvPr/>
        </p:nvSpPr>
        <p:spPr>
          <a:xfrm>
            <a:off x="5029200" y="1691640"/>
            <a:ext cx="224028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029200" y="1691640"/>
            <a:ext cx="2240280" cy="7315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16636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/>
              <a:t>−62 min</a:t>
            </a:r>
          </a:p>
        </p:txBody>
      </p:sp>
      <p:sp>
        <p:nvSpPr>
          <p:cNvPr id="21" name="Text 19"/>
          <p:cNvSpPr/>
          <p:nvPr/>
        </p:nvSpPr>
        <p:spPr>
          <a:xfrm>
            <a:off x="5166360" y="24963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DLMO Advance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66360" y="2825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/>
              <a:t>(Circadian phase)</a:t>
            </a:r>
          </a:p>
        </p:txBody>
      </p:sp>
      <p:sp>
        <p:nvSpPr>
          <p:cNvPr id="23" name="Shape 21"/>
          <p:cNvSpPr/>
          <p:nvPr/>
        </p:nvSpPr>
        <p:spPr>
          <a:xfrm>
            <a:off x="7406640" y="1691640"/>
            <a:ext cx="224028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406640" y="1691640"/>
            <a:ext cx="2240280" cy="7315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543800" y="1974676"/>
            <a:ext cx="2011680" cy="12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/>
              <a:t>Light effect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Near window → better sleep</a:t>
            </a:r>
          </a:p>
        </p:txBody>
      </p:sp>
      <p:sp>
        <p:nvSpPr>
          <p:cNvPr id="28" name="Shape 26"/>
          <p:cNvSpPr/>
          <p:nvPr/>
        </p:nvSpPr>
        <p:spPr>
          <a:xfrm>
            <a:off x="9784080" y="1691640"/>
            <a:ext cx="2240280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784080" y="1691640"/>
            <a:ext cx="2240280" cy="7315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898380" y="1879720"/>
            <a:ext cx="2011680" cy="93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340"/>
                </a:solidFill>
              </a:rPr>
              <a:t>↑ More intermittent noise ↑Awakenings</a:t>
            </a:r>
            <a:endParaRPr lang="en-US" sz="2000" b="1" dirty="0"/>
          </a:p>
        </p:txBody>
      </p:sp>
      <p:sp>
        <p:nvSpPr>
          <p:cNvPr id="32" name="Text 30"/>
          <p:cNvSpPr/>
          <p:nvPr/>
        </p:nvSpPr>
        <p:spPr>
          <a:xfrm>
            <a:off x="9921240" y="30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/>
              <a:t>Irrespective of study arm</a:t>
            </a:r>
          </a:p>
        </p:txBody>
      </p:sp>
      <p:sp>
        <p:nvSpPr>
          <p:cNvPr id="33" name="Shape 31"/>
          <p:cNvSpPr/>
          <p:nvPr/>
        </p:nvSpPr>
        <p:spPr>
          <a:xfrm>
            <a:off x="274320" y="3840480"/>
            <a:ext cx="11612880" cy="2697480"/>
          </a:xfrm>
          <a:prstGeom prst="rect">
            <a:avLst/>
          </a:prstGeom>
          <a:solidFill>
            <a:srgbClr val="EEF3FA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74320" y="3840480"/>
            <a:ext cx="82296" cy="269748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02920" y="395020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</a:rPr>
              <a:t>SECTION GUIDE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57200" y="4389120"/>
            <a:ext cx="2103120" cy="7315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57200" y="45171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5FA8"/>
                </a:solidFill>
              </a:rPr>
              <a:t>Sleep Diaries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57200" y="50727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Slides 7–8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761488" y="4389120"/>
            <a:ext cx="2103120" cy="73152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761488" y="45171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9988"/>
                </a:solidFill>
              </a:rPr>
              <a:t>Actigraphy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761488" y="50727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Slides 9–10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065776" y="4389120"/>
            <a:ext cx="2103120" cy="7315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065776" y="45171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5F02"/>
                </a:solidFill>
              </a:rPr>
              <a:t>Melatonin (DLMO)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065776" y="50727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Slides 11–12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370064" y="4389120"/>
            <a:ext cx="2103120" cy="7315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370064" y="45171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A817"/>
                </a:solidFill>
              </a:rPr>
              <a:t>Light &amp; Environment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370064" y="50727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Slides 13–14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674352" y="4389120"/>
            <a:ext cx="210312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9674352" y="45171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</a:rPr>
              <a:t>Noise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674352" y="50727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Slide 15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02920" y="5486400"/>
            <a:ext cx="256032" cy="25603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822960" y="5486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5FA8"/>
                </a:solidFill>
              </a:rPr>
              <a:t>CircadianCare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03320" y="5486400"/>
            <a:ext cx="256032" cy="25603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023360" y="5486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F02"/>
                </a:solidFill>
              </a:rPr>
              <a:t>Standard of Care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Diaries: Bedtime Advanced in CircadianCare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· SLEEP DIARY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83464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834640" cy="7315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A817"/>
                </a:solidFill>
              </a:rPr>
              <a:t>p = 0.062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Group effect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Trend toward earlier bedtime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83464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37560" y="914400"/>
            <a:ext cx="2834640" cy="7315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74720" y="1005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5FA8"/>
                </a:solidFill>
              </a:rPr>
              <a:t>↑ Advanced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74720" y="17190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Bedtime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2048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CircadianCare arm · T0→T1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914400"/>
            <a:ext cx="5394960" cy="1572768"/>
          </a:xfrm>
          <a:prstGeom prst="rect">
            <a:avLst/>
          </a:prstGeom>
          <a:solidFill>
            <a:srgbClr val="EEF3FA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492240" y="914400"/>
            <a:ext cx="82296" cy="1572768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693408" y="1078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5FA8"/>
                </a:solidFill>
              </a:rPr>
              <a:t>What this means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93408" y="1463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Treated patients started going to sleep earlier — consistent with a phase advance effect of the light intervention.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11612880" cy="4114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11393424" cy="329184"/>
          </a:xfrm>
          <a:prstGeom prst="rect">
            <a:avLst/>
          </a:prstGeom>
          <a:solidFill>
            <a:srgbClr val="1D5FA8">
              <a:alpha val="13000"/>
            </a:srgbClr>
          </a:solidFill>
          <a:ln w="12700">
            <a:solidFill>
              <a:srgbClr val="1D5FA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11393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5FA8"/>
                </a:solidFill>
              </a:rPr>
              <a:t>Bedtime change from baseline (hrs from midnight)  — negative = earlier bedtime = improvement</a:t>
            </a:r>
            <a:endParaRPr lang="en-US" sz="16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2944368"/>
          <a:ext cx="116128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Diaries: More Time in Bed with CircadianCare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· SLEEP DIARY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83464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834640" cy="73152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7A45"/>
                </a:solidFill>
              </a:rPr>
              <a:t>p = 0.007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Group effect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Significant increase in TIB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83464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37560" y="914400"/>
            <a:ext cx="2834640" cy="7315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74720" y="1005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5FA8"/>
                </a:solidFill>
              </a:rPr>
              <a:t>+0.8 hrs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74720" y="17190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Time in bed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2048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CC arm T0→T1 increase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914400"/>
            <a:ext cx="5394960" cy="1572768"/>
          </a:xfrm>
          <a:prstGeom prst="rect">
            <a:avLst/>
          </a:prstGeom>
          <a:solidFill>
            <a:srgbClr val="EEF3FA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492240" y="914400"/>
            <a:ext cx="82296" cy="1572768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693408" y="1078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7A45"/>
                </a:solidFill>
              </a:rPr>
              <a:t>Key finding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93408" y="1463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CircadianCare patients spent significantly more time in bed than Standard of Care patients after 7 days (p=0.007).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11612880" cy="4114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6995160" cy="329184"/>
          </a:xfrm>
          <a:prstGeom prst="rect">
            <a:avLst/>
          </a:prstGeom>
          <a:solidFill>
            <a:srgbClr val="1A7A45">
              <a:alpha val="13000"/>
            </a:srgbClr>
          </a:solidFill>
          <a:ln w="12700">
            <a:solidFill>
              <a:srgbClr val="1A7A4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A45"/>
                </a:solidFill>
              </a:rPr>
              <a:t>Time in Bed (hours)  — higher = more rest = improvement</a:t>
            </a:r>
            <a:endParaRPr lang="en-US" sz="16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2944368"/>
          <a:ext cx="116128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Actigraphy: No Overall Group Difference…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· ACTIGRAPHY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1612880" cy="169164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1612880" cy="502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024128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A2340"/>
                </a:solidFill>
              </a:rPr>
              <a:t>When comparing the two arms overall, actigraphy did not show a statistically significant difference in wake-up time or midsleep.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347472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3474720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75569"/>
                </a:solidFill>
              </a:rPr>
              <a:t>No Δ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1480" y="36850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Overall arms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40142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Actigraphy comparison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023360" y="2880360"/>
            <a:ext cx="7863840" cy="1828800"/>
          </a:xfrm>
          <a:prstGeom prst="rect">
            <a:avLst/>
          </a:prstGeom>
          <a:solidFill>
            <a:srgbClr val="EEF3FA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023360" y="2880360"/>
            <a:ext cx="82296" cy="1828800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251960" y="3017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9988"/>
                </a:solidFill>
              </a:rPr>
              <a:t>But look closer…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51960" y="3547872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When patients are divided by their chronotype (morning, intermediate, evening) a striking interaction emerges. The story changes completely.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74320" y="4956048"/>
            <a:ext cx="374904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4320" y="4956048"/>
            <a:ext cx="82296" cy="1554480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50474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9988"/>
                </a:solidFill>
              </a:rPr>
              <a:t>🌅  Morning type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5577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Naturally prefers early sleep &amp; wake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251960" y="4956048"/>
            <a:ext cx="374904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251960" y="4956048"/>
            <a:ext cx="82296" cy="155448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434840" y="50474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A817"/>
                </a:solidFill>
              </a:rPr>
              <a:t>🌤️  Intermediate type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434840" y="5577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Neither strongly early nor late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229600" y="4956048"/>
            <a:ext cx="3749040" cy="1554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229600" y="4956048"/>
            <a:ext cx="82296" cy="1554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412480" y="50474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569"/>
                </a:solidFill>
              </a:rPr>
              <a:t>🌙  Evening type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12480" y="5577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Naturally prefers late sleep &amp; wake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Actigraphy: Intermediate Types Most Vulnerable in Untreated Group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· ACTIGRAPHY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65176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65176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1C1C"/>
                </a:solidFill>
              </a:rPr>
              <a:t>p=0.017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Interaction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Chronotype × Time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65176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65176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91840" y="10058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91C1C"/>
                </a:solidFill>
              </a:rPr>
              <a:t>p=0.008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17190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Interaction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20482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Chronotype × Time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35040" y="914400"/>
            <a:ext cx="5852160" cy="1572768"/>
          </a:xfrm>
          <a:prstGeom prst="rect">
            <a:avLst/>
          </a:prstGeom>
          <a:solidFill>
            <a:srgbClr val="EEF3FA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35040" y="914400"/>
            <a:ext cx="82296" cy="1572768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36208" y="1019556"/>
            <a:ext cx="5650992" cy="1357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Intermediate patients in Standard of Care showed progressive sleep-phase delay, CircadianCare arm was protected against this drift.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5760720" cy="4114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82296" cy="41148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5437762" cy="329184"/>
          </a:xfrm>
          <a:prstGeom prst="rect">
            <a:avLst/>
          </a:prstGeom>
          <a:solidFill>
            <a:srgbClr val="E6A817">
              <a:alpha val="13000"/>
            </a:srgbClr>
          </a:solidFill>
          <a:ln w="12700">
            <a:solidFill>
              <a:srgbClr val="E6A81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7200" y="2606040"/>
            <a:ext cx="54377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A817"/>
                </a:solidFill>
              </a:rPr>
              <a:t>A · Wake-up Time Δ (</a:t>
            </a:r>
            <a:r>
              <a:rPr lang="en-US" sz="1400" b="1" dirty="0" err="1">
                <a:solidFill>
                  <a:srgbClr val="E6A817"/>
                </a:solidFill>
              </a:rPr>
              <a:t>hrs</a:t>
            </a:r>
            <a:r>
              <a:rPr lang="en-US" sz="1400" b="1" dirty="0">
                <a:solidFill>
                  <a:srgbClr val="E6A817"/>
                </a:solidFill>
              </a:rPr>
              <a:t>)</a:t>
            </a:r>
            <a:endParaRPr lang="en-US" sz="140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3951006995"/>
              </p:ext>
            </p:extLst>
          </p:nvPr>
        </p:nvGraphicFramePr>
        <p:xfrm>
          <a:off x="457200" y="2971800"/>
          <a:ext cx="5577840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6263640" y="2514600"/>
            <a:ext cx="5623560" cy="4114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6263640" y="2514600"/>
            <a:ext cx="82296" cy="41148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6446520" y="2606040"/>
            <a:ext cx="5312664" cy="329184"/>
          </a:xfrm>
          <a:prstGeom prst="rect">
            <a:avLst/>
          </a:prstGeom>
          <a:solidFill>
            <a:srgbClr val="E6A817">
              <a:alpha val="13000"/>
            </a:srgbClr>
          </a:solidFill>
          <a:ln w="12700">
            <a:solidFill>
              <a:srgbClr val="E6A81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446520" y="2606040"/>
            <a:ext cx="5312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A817"/>
                </a:solidFill>
              </a:rPr>
              <a:t>B · Midsleep Δ (</a:t>
            </a:r>
            <a:r>
              <a:rPr lang="en-US" sz="1400" b="1" dirty="0" err="1">
                <a:solidFill>
                  <a:srgbClr val="E6A817"/>
                </a:solidFill>
              </a:rPr>
              <a:t>hrs</a:t>
            </a:r>
            <a:r>
              <a:rPr lang="en-US" sz="1400" b="1" dirty="0">
                <a:solidFill>
                  <a:srgbClr val="E6A817"/>
                </a:solidFill>
              </a:rPr>
              <a:t>)</a:t>
            </a:r>
            <a:endParaRPr lang="en-US" sz="1400" dirty="0"/>
          </a:p>
        </p:txBody>
      </p:sp>
      <p:graphicFrame>
        <p:nvGraphicFramePr>
          <p:cNvPr id="30" name="Chart 1"/>
          <p:cNvGraphicFramePr/>
          <p:nvPr>
            <p:extLst>
              <p:ext uri="{D42A27DB-BD31-4B8C-83A1-F6EECF244321}">
                <p14:modId xmlns:p14="http://schemas.microsoft.com/office/powerpoint/2010/main" val="199397008"/>
              </p:ext>
            </p:extLst>
          </p:nvPr>
        </p:nvGraphicFramePr>
        <p:xfrm>
          <a:off x="6574536" y="2971800"/>
          <a:ext cx="5312664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Melatonin: How We Measured Circadian Phase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· MELATONIN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5F02"/>
                </a:solidFill>
              </a:rPr>
              <a:t>DLMO — Dim Light Melatonin Onset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530352" cy="530352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74320" y="18105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39496" y="2340864"/>
            <a:ext cx="0" cy="47548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05840" y="1719072"/>
            <a:ext cx="108813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05840" y="1719072"/>
            <a:ext cx="82296" cy="77724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5 saliva samples collected hourly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530352" cy="530352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74320" y="2907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39496" y="3438144"/>
            <a:ext cx="0" cy="47548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05840" y="2816352"/>
            <a:ext cx="108813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05840" y="2816352"/>
            <a:ext cx="82296" cy="77724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188720" y="292608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Starting 3 hours before habitual sleep onset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530352" cy="530352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74320" y="4005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39496" y="4535424"/>
            <a:ext cx="0" cy="47548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05840" y="3913632"/>
            <a:ext cx="108813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005840" y="3913632"/>
            <a:ext cx="82296" cy="77724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188720" y="40233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Analysed by radioimmunoassay (LOD 0.3 pg/mL)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74320" y="5102352"/>
            <a:ext cx="530352" cy="530352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74320" y="5102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005840" y="5010912"/>
            <a:ext cx="108813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005840" y="5010912"/>
            <a:ext cx="82296" cy="77724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18872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DLMO = the time when melatonin crosses a threshold on the fitted curve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274320" y="6144768"/>
            <a:ext cx="11612880" cy="530352"/>
          </a:xfrm>
          <a:prstGeom prst="rect">
            <a:avLst/>
          </a:prstGeom>
          <a:solidFill>
            <a:srgbClr val="D95F02">
              <a:alpha val="12000"/>
            </a:srgbClr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57200" y="6144768"/>
            <a:ext cx="11247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2340"/>
                </a:solidFill>
              </a:rPr>
              <a:t>💡  DLMO tells us when the brain's clock triggers sleep onset, a shift in DLMO means a real circadian phase change.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Melatonin: CircadianCare Advanced Circadian Phase by ~1 Hour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· MELATONIN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743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743200" cy="7315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5F02"/>
                </a:solidFill>
              </a:rPr>
              <a:t>−62 min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1719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DLMO Advance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T0 → T1 · CircadianCare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46120" y="914400"/>
            <a:ext cx="2743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743200" cy="73152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83280" y="1005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7A45"/>
                </a:solidFill>
              </a:rPr>
              <a:t>p &lt; 0.05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83280" y="1719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Significant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2048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Within-arm comparison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0" y="914400"/>
            <a:ext cx="274320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743200" cy="73152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355080" y="1005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5F02"/>
                </a:solidFill>
              </a:rPr>
              <a:t>22:50→21:48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55080" y="1719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DLMO shift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55080" y="2048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Mean clock time (T0→T1)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44000" y="914400"/>
            <a:ext cx="2697480" cy="1572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144000" y="914400"/>
            <a:ext cx="2697480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281160" y="1005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75569"/>
                </a:solidFill>
              </a:rPr>
              <a:t>Trend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81160" y="171907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T2 maintained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81160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Sustained at discharge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274320" y="2514600"/>
            <a:ext cx="4236720" cy="3866745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4320" y="2514599"/>
            <a:ext cx="60960" cy="3866745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57200" y="2606040"/>
            <a:ext cx="2834640" cy="329184"/>
          </a:xfrm>
          <a:prstGeom prst="rect">
            <a:avLst/>
          </a:prstGeom>
          <a:solidFill>
            <a:srgbClr val="D95F02">
              <a:alpha val="13000"/>
            </a:srgbClr>
          </a:solidFill>
          <a:ln w="12700">
            <a:solidFill>
              <a:srgbClr val="D95F0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57200" y="26060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F02"/>
                </a:solidFill>
              </a:rPr>
              <a:t>DLMO Group Mean ± SE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067104"/>
              </p:ext>
            </p:extLst>
          </p:nvPr>
        </p:nvGraphicFramePr>
        <p:xfrm>
          <a:off x="502920" y="3046379"/>
          <a:ext cx="3886200" cy="253593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Timepoint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DLMO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2340"/>
                          </a:solidFill>
                        </a:rPr>
                        <a:t>T0 Baseline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2340"/>
                          </a:solidFill>
                        </a:rPr>
                        <a:t>22:50 ± 00:18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2340"/>
                          </a:solidFill>
                        </a:rPr>
                        <a:t>(21:42–23:54)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2340"/>
                          </a:solidFill>
                        </a:rPr>
                        <a:t>T1 (Day 7)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D95F02"/>
                          </a:solidFill>
                        </a:rPr>
                        <a:t>21:48 ± 00:25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2340"/>
                          </a:solidFill>
                        </a:rPr>
                        <a:t>(21:12–22:24)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Δ Advance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F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−62 min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F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p &lt; 0.05</a:t>
                      </a:r>
                      <a:endParaRPr lang="en-US" sz="20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502920" y="588672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</a:rPr>
              <a:t>CircadianCare arm only · T2 limited by reduced n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4663440" y="2514600"/>
            <a:ext cx="7223760" cy="4114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4663440" y="2514600"/>
            <a:ext cx="82296" cy="411480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4846320" y="2606040"/>
            <a:ext cx="6888480" cy="329184"/>
          </a:xfrm>
          <a:prstGeom prst="rect">
            <a:avLst/>
          </a:prstGeom>
          <a:solidFill>
            <a:srgbClr val="D95F02">
              <a:alpha val="13000"/>
            </a:srgbClr>
          </a:solidFill>
          <a:ln w="12700">
            <a:solidFill>
              <a:srgbClr val="D95F0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4846320" y="2606040"/>
            <a:ext cx="688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5F02"/>
                </a:solidFill>
              </a:rPr>
              <a:t>Illustrative patient</a:t>
            </a:r>
            <a:endParaRPr lang="en-US" sz="1600" dirty="0"/>
          </a:p>
        </p:txBody>
      </p:sp>
      <p:graphicFrame>
        <p:nvGraphicFramePr>
          <p:cNvPr id="37" name="Chart 0"/>
          <p:cNvGraphicFramePr/>
          <p:nvPr>
            <p:extLst>
              <p:ext uri="{D42A27DB-BD31-4B8C-83A1-F6EECF244321}">
                <p14:modId xmlns:p14="http://schemas.microsoft.com/office/powerpoint/2010/main" val="2948604761"/>
              </p:ext>
            </p:extLst>
          </p:nvPr>
        </p:nvGraphicFramePr>
        <p:xfrm>
          <a:off x="4846320" y="2999232"/>
          <a:ext cx="7040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Bed Position Predicts Sleep Quality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· ENVIRONMENT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1612880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1612880" cy="5029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005840"/>
            <a:ext cx="11155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40"/>
                </a:solidFill>
              </a:rPr>
              <a:t>Patients sleeping near a window slept significantly better, regardless of which study arm they were in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2560320" cy="13670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2560320" cy="63583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2331720" cy="59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A817"/>
                </a:solidFill>
              </a:rPr>
              <a:t>p=0.042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1480" y="3273552"/>
            <a:ext cx="2331720" cy="28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Sleep quality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" y="3602736"/>
            <a:ext cx="2331720" cy="2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Near vs Far window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063240" y="2468880"/>
            <a:ext cx="2560320" cy="13670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063240" y="2468880"/>
            <a:ext cx="2560320" cy="63583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0" y="2560320"/>
            <a:ext cx="2331720" cy="59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A817"/>
                </a:solidFill>
              </a:rPr>
              <a:t>636 lux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0" y="3273552"/>
            <a:ext cx="2331720" cy="28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Peak light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0" y="3602736"/>
            <a:ext cx="2331720" cy="2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Near window · 12–14h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852160" y="2468880"/>
            <a:ext cx="2560320" cy="136702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852160" y="2468880"/>
            <a:ext cx="2560320" cy="63583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989320" y="2560320"/>
            <a:ext cx="2331720" cy="59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5F02"/>
                </a:solidFill>
              </a:rPr>
              <a:t>134 lux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989320" y="3273552"/>
            <a:ext cx="2331720" cy="286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40"/>
                </a:solidFill>
              </a:rPr>
              <a:t>Lowest light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989320" y="3602736"/>
            <a:ext cx="2331720" cy="222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Far window · 17:30–21h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86800" y="2468880"/>
            <a:ext cx="3200400" cy="1417320"/>
          </a:xfrm>
          <a:prstGeom prst="rect">
            <a:avLst/>
          </a:prstGeom>
          <a:solidFill>
            <a:srgbClr val="EEF3FA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686800" y="2468880"/>
            <a:ext cx="82296" cy="141732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869680" y="28782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A simple, no-cost intervention: assign light-sensitive patients to beds near windows.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74320" y="3962072"/>
            <a:ext cx="5486400" cy="279806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74320" y="3962072"/>
            <a:ext cx="68580" cy="278892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11480" y="3993784"/>
            <a:ext cx="5212080" cy="329184"/>
          </a:xfrm>
          <a:prstGeom prst="rect">
            <a:avLst/>
          </a:prstGeom>
          <a:solidFill>
            <a:srgbClr val="E6A817">
              <a:alpha val="13000"/>
            </a:srgbClr>
          </a:solidFill>
          <a:ln w="12700">
            <a:solidFill>
              <a:srgbClr val="E6A81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11480" y="3993784"/>
            <a:ext cx="5184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A817"/>
                </a:solidFill>
              </a:rPr>
              <a:t>Illuminance (Lux, mean ± SE) by time &amp; bed position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28171"/>
              </p:ext>
            </p:extLst>
          </p:nvPr>
        </p:nvGraphicFramePr>
        <p:xfrm>
          <a:off x="434340" y="4378481"/>
          <a:ext cx="5257800" cy="2261616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Room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Near Window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Far Window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07:00–10:30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394 ± 45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515 ± 58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268 ± 59 *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12:00–14:00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477 ± 54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636 ± 68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311 ± 70 **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14:30–17:00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251 ± 30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309 ± 41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192 ± 42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17:30–21:00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185 ± 26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234 ± 35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2340"/>
                          </a:solidFill>
                        </a:rPr>
                        <a:t>134 ± 36</a:t>
                      </a:r>
                      <a:endParaRPr lang="en-US" sz="1600" dirty="0"/>
                    </a:p>
                  </a:txBody>
                  <a:tcPr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1094167" y="661111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* p&lt;0.05  ** p&lt;0.01 vs Near Window</a:t>
            </a:r>
            <a:endParaRPr lang="en-US" sz="14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5989320" y="4069080"/>
          <a:ext cx="61722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 A Key Disruptor of Hospital Sleep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· ENVIRONMENT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1612880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1612880" cy="502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005840"/>
            <a:ext cx="11155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40"/>
                </a:solidFill>
              </a:rPr>
              <a:t>As fluctuating noise increases → night awakenings also increase  Effect observed regardless of study arm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74320" y="2487168"/>
            <a:ext cx="6583680" cy="4114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74320" y="2487168"/>
            <a:ext cx="82296" cy="4114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5212080" cy="329184"/>
          </a:xfrm>
          <a:prstGeom prst="rect">
            <a:avLst/>
          </a:prstGeom>
          <a:solidFill>
            <a:srgbClr val="B91C1C">
              <a:alpha val="13000"/>
            </a:srgbClr>
          </a:solidFill>
          <a:ln w="12700">
            <a:solidFill>
              <a:srgbClr val="B91C1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</a:rPr>
              <a:t>Mean awakenings per night by noise level</a:t>
            </a:r>
            <a:endParaRPr lang="en-US" sz="16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2078072989"/>
              </p:ext>
            </p:extLst>
          </p:nvPr>
        </p:nvGraphicFramePr>
        <p:xfrm>
          <a:off x="487680" y="2944368"/>
          <a:ext cx="6196584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7086600" y="2487168"/>
            <a:ext cx="4800600" cy="4114800"/>
          </a:xfrm>
          <a:prstGeom prst="rect">
            <a:avLst/>
          </a:prstGeom>
          <a:solidFill>
            <a:srgbClr val="EEF3FA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7086600" y="2487168"/>
            <a:ext cx="82296" cy="4114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269480" y="26060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91C1C"/>
                </a:solidFill>
              </a:rPr>
              <a:t>Why this matters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7269480" y="3200400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571232" y="3182112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Noise spikes correlate directly with actigraphy-detected awakenings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269480" y="3977640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571232" y="3959352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This pattern holds in both arms, noise impacts everyone equally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269480" y="4645152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571232" y="475488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Peaks during the night correspond to equipment, staff activity and patient calls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269480" y="5653035"/>
            <a:ext cx="219456" cy="219456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7571232" y="5762763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Simple interventions: quieter alarms, staff awareness, ear plugs for patients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12161520" cy="5029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0" y="14630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CONCLUSIONS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502920" cy="502920"/>
          </a:xfrm>
          <a:prstGeom prst="ellipse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960120"/>
            <a:ext cx="109270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005840" y="960120"/>
            <a:ext cx="82296" cy="77724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188720" y="1051560"/>
            <a:ext cx="10561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CircadianCare advanced sleep timing and increased time in bed  (p=0.007)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" y="2020824"/>
            <a:ext cx="502920" cy="502920"/>
          </a:xfrm>
          <a:prstGeom prst="ellipse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74320" y="2020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1929384"/>
            <a:ext cx="109270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005840" y="1929384"/>
            <a:ext cx="82296" cy="77724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188720" y="2020824"/>
            <a:ext cx="10561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Melatonin onset advanced by ~62 min in treated patients  (p&lt;0.05)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502920" cy="50292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743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5840" y="2898648"/>
            <a:ext cx="109270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05840" y="2898648"/>
            <a:ext cx="82296" cy="77724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188720" y="2990088"/>
            <a:ext cx="10561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Intermediate chronotype patients are especially vulnerable to phase delay during hospital stay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74320" y="3959352"/>
            <a:ext cx="502920" cy="502920"/>
          </a:xfrm>
          <a:prstGeom prst="ellipse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7432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05840" y="3867912"/>
            <a:ext cx="109270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005840" y="3867912"/>
            <a:ext cx="82296" cy="777240"/>
          </a:xfrm>
          <a:prstGeom prst="rect">
            <a:avLst/>
          </a:prstGeom>
          <a:solidFill>
            <a:srgbClr val="1A9988"/>
          </a:solidFill>
          <a:ln w="12700">
            <a:solidFill>
              <a:srgbClr val="1A99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188720" y="3959352"/>
            <a:ext cx="10561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Bed position matters: patients near a window sleep better — a free, immediate intervention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274320" y="4928616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7432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05840" y="4837176"/>
            <a:ext cx="109270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005840" y="4837176"/>
            <a:ext cx="8229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188720" y="4928616"/>
            <a:ext cx="10561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Hospital noise disrupts sleep for everyone — reducing it is low-cost and high-impact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74320" y="5897880"/>
            <a:ext cx="502920" cy="502920"/>
          </a:xfrm>
          <a:prstGeom prst="ellipse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74320" y="5897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05840" y="5806440"/>
            <a:ext cx="1092708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1005840" y="5806440"/>
            <a:ext cx="82296" cy="77724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188720" y="5897880"/>
            <a:ext cx="10561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40"/>
                </a:solidFill>
              </a:rPr>
              <a:t>Both light and noise can be modulated with minimal cost to prevent hospitalisation-related insomnia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D5FA8"/>
                </a:solidFill>
              </a:rPr>
              <a:t>Questions &amp; Discussion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8686800" cy="32004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4748B"/>
                </a:solidFill>
              </a:rPr>
              <a:t>Funded by a STARS@UNIPD 2019 Consolidator Grant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1320</Words>
  <Application>Microsoft Office PowerPoint</Application>
  <PresentationFormat>Widescreen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Giusti, Gianluca Dr (PG/R - Sch of Biosciences)</cp:lastModifiedBy>
  <cp:revision>3</cp:revision>
  <dcterms:created xsi:type="dcterms:W3CDTF">2026-03-18T11:39:30Z</dcterms:created>
  <dcterms:modified xsi:type="dcterms:W3CDTF">2026-03-18T12:12:12Z</dcterms:modified>
</cp:coreProperties>
</file>